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Ommatidia's document 'Q2_lidar+VR9700_integration.pdf' (4 slides: options 1-3 and two accelerometer-sharing circuits), the vcactl README and the shaker/DAQ profiles in the repository. Q2 specifications beyond what the Ommatidia slides show (±2 V analog in/out) are not known yet; open questions are listed on slide 11.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 3 needs only passive BNC parts. The Q2 does its own FRF from the two signals it records, so the DAQ's clock and the converter filter delay of the USB-4431/PXIe-4468 do not matter for the Q2 results.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docs/Q2_lidar+VR9700_integration.pdf (Ommatidia). Their drawings all use the TIRA S 51110 with the BDA 120, which is our TV 51110. The VR9700 datasheet lists two analog outputs: drive, and an optional differential or COLA output.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 2 would bypass the controller completely: no equalisation of the random profile, no rms/clip/open-loop/overload aborts. If the Q2's own stimulus is ever needed (for a modal-type check), use it only at low level with the amplifier gain turned down. Software effort is given only as low/medium/high.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one Q2 beam on the fixture next to the control accelerometer: the Q2 then measures the base motion itself, and relative displacement of each point is a subtraction in the Q2 data. The Q2 measures along its beam: for vertical excitation it looks down from above, or the beam angle gives a cosine error.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vcactl always closes the loop on an IEPE accelerometer (README, Hardware setup). USB-6211 wiring per the README: AI 1 (pin 17) / AI 9 (pin 18) differential, conditioner output AC-coupled. The USB-4431/PXIe-4468 AI are pseudo-differential, which limits ground-loop current through the tee. Pico TA487 is the part Ommatidia drew (USB powered, 4 mA); any IEPE conditioner with a ±5 V output works. DC blocker cut-off depends on the Q2 input impedance, which we still need from Ommatidia.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 sensitivity = 2000 mV / (4.5 × a_rms). 53 g and 70 g rms are the derived random ratings in bk4809.toml and bk4801_4812.toml; TV 51110 is 30 g rms, TV 52110 25 g rms. If the Q2 input range turns out to be wider than ±2 V, these limits relax.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Values from config/shakers/*.toml (datasheets in docs/). Dynamic payload limits per profile are in each shaker file and in docs/shaker_comparison.pdf. Static payload is the derived vertical-mounting limit (sag uses the half-stroke); the usable value is lower.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Displacement ASD = sqrt(S_a) * 9.81 / (2*pi*f)^2. The 0.001/0.01/0.05 g2/Hz levels are the same as in the shaker-file payload tables (rms 1.4 / 4.4 / 9.9 g for 20-2000 Hz).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vcactl today uses one AO channel (AnalogSingleChannelWriter) and one AI channel (AnalogSingleChannelReader) in src/vcactl/daq/nidaq.py. A second AO channel in the same task keeps the drive copy sample-aligned. The USB-4431 has only one AO. Without a second AO, a passive tee + 2:1 divider on the drive line gives the same reference for the TIRA and BK 4801 drives (up to 3.5 V peak) and the BK 4809 (2.5 V peak).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Q2 Analog In impedance also sets the DC blocker cut-off in circuit A. The laser class sets the lab procedure (enclosure, eyewear, signage).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vcactl has run only in simulation and 'check' for the BK setups; pretest and run on hardware are still untested, so start low (--level -12) regardless of the Q2.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633"/>
        </a:solidFill>
        <a:effectLst/>
      </p:bgPr>
    </p:bg>
    <p:spTree>
      <p:nvGrpSpPr>
        <p:cNvPr id="1" name=""/>
        <p:cNvGrpSpPr/>
        <p:nvPr/>
      </p:nvGrpSpPr>
      <p:grpSpPr/>
      <p:cxnSp>
        <p:nvCxnSpPr>
          <p:cNvPr id="2" name="Connector 1"/>
          <p:cNvCxnSpPr/>
          <p:nvPr/>
        </p:nvCxnSpPr>
        <p:spPr>
          <a:xfrm flipV="1">
            <a:off x="7223760" y="2011680"/>
            <a:ext cx="4297680" cy="1097280"/>
          </a:xfrm>
          <a:prstGeom prst="line">
            <a:avLst/>
          </a:prstGeom>
          <a:ln w="19050">
            <a:solidFill>
              <a:srgbClr val="D93A2B"/>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V="1">
            <a:off x="7223760" y="2834639"/>
            <a:ext cx="4297680" cy="274321"/>
          </a:xfrm>
          <a:prstGeom prst="line">
            <a:avLst/>
          </a:prstGeom>
          <a:ln w="19050">
            <a:solidFill>
              <a:srgbClr val="D93A2B"/>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7223760" y="3108960"/>
            <a:ext cx="4297680" cy="548640"/>
          </a:xfrm>
          <a:prstGeom prst="line">
            <a:avLst/>
          </a:prstGeom>
          <a:ln w="19050">
            <a:solidFill>
              <a:srgbClr val="D93A2B"/>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675120" y="2743200"/>
            <a:ext cx="640080" cy="731520"/>
          </a:xfrm>
          <a:prstGeom prst="roundRect">
            <a:avLst>
              <a:gd name="adj" fmla="val 8000"/>
            </a:avLst>
          </a:prstGeom>
          <a:solidFill>
            <a:srgbClr val="D9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1463040"/>
            <a:ext cx="6400800" cy="1645920"/>
          </a:xfrm>
          <a:prstGeom prst="rect">
            <a:avLst/>
          </a:prstGeom>
          <a:noFill/>
        </p:spPr>
        <p:txBody>
          <a:bodyPr wrap="square" anchor="t" lIns="0" rIns="0" tIns="0" bIns="0">
            <a:spAutoFit/>
          </a:bodyPr>
          <a:lstStyle/>
          <a:p>
            <a:pPr algn="l">
              <a:spcAft>
                <a:spcPts val="0"/>
              </a:spcAft>
            </a:pPr>
            <a:r>
              <a:rPr sz="4000" b="1" i="0">
                <a:solidFill>
                  <a:srgbClr val="FFFFFF"/>
                </a:solidFill>
                <a:latin typeface="Cambria"/>
              </a:rPr>
              <a:t>Adding the Q2 lidar to the lab's shaker setup</a:t>
            </a:r>
          </a:p>
        </p:txBody>
      </p:sp>
      <p:sp>
        <p:nvSpPr>
          <p:cNvPr id="7" name="TextBox 6"/>
          <p:cNvSpPr txBox="1"/>
          <p:nvPr/>
        </p:nvSpPr>
        <p:spPr>
          <a:xfrm>
            <a:off x="731520" y="3429000"/>
            <a:ext cx="6035040" cy="914400"/>
          </a:xfrm>
          <a:prstGeom prst="rect">
            <a:avLst/>
          </a:prstGeom>
          <a:noFill/>
        </p:spPr>
        <p:txBody>
          <a:bodyPr wrap="square" anchor="t" lIns="0" rIns="0" tIns="0" bIns="0">
            <a:spAutoFit/>
          </a:bodyPr>
          <a:lstStyle/>
          <a:p>
            <a:pPr algn="l">
              <a:spcAft>
                <a:spcPts val="0"/>
              </a:spcAft>
            </a:pPr>
            <a:r>
              <a:rPr sz="1800" b="0" i="0">
                <a:solidFill>
                  <a:srgbClr val="C9D3DC"/>
                </a:solidFill>
                <a:latin typeface="Calibri"/>
              </a:rPr>
              <a:t>How the Ommatidia Q2 fits our own random vibration controller (vcactl) instead of the VR9700, and which shaker to use</a:t>
            </a:r>
          </a:p>
        </p:txBody>
      </p:sp>
      <p:sp>
        <p:nvSpPr>
          <p:cNvPr id="8" name="TextBox 7"/>
          <p:cNvSpPr txBox="1"/>
          <p:nvPr/>
        </p:nvSpPr>
        <p:spPr>
          <a:xfrm>
            <a:off x="731520" y="5760720"/>
            <a:ext cx="7315200" cy="365760"/>
          </a:xfrm>
          <a:prstGeom prst="rect">
            <a:avLst/>
          </a:prstGeom>
          <a:noFill/>
        </p:spPr>
        <p:txBody>
          <a:bodyPr wrap="square" anchor="t" lIns="0" rIns="0" tIns="0" bIns="0">
            <a:spAutoFit/>
          </a:bodyPr>
          <a:lstStyle/>
          <a:p>
            <a:pPr algn="l">
              <a:spcAft>
                <a:spcPts val="0"/>
              </a:spcAft>
            </a:pPr>
            <a:r>
              <a:rPr sz="1300" b="0" i="0">
                <a:solidFill>
                  <a:srgbClr val="5B6B7C"/>
                </a:solidFill>
                <a:latin typeface="Calibri"/>
              </a:rPr>
              <a:t>CITG macrolab  ·  October 2026  ·  draft for discussion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nchor="b" lIns="0" rIns="0" tIns="0" bIns="0">
            <a:spAutoFit/>
          </a:bodyPr>
          <a:lstStyle/>
          <a:p>
            <a:pPr algn="l">
              <a:spcAft>
                <a:spcPts val="0"/>
              </a:spcAft>
            </a:pPr>
            <a:r>
              <a:rPr sz="3200" b="1" i="0">
                <a:solidFill>
                  <a:srgbClr val="1B2633"/>
                </a:solidFill>
                <a:latin typeface="Cambria"/>
              </a:rPr>
              <a:t>Recommendation: share the accelerometer</a:t>
            </a:r>
          </a:p>
        </p:txBody>
      </p:sp>
      <p:sp>
        <p:nvSpPr>
          <p:cNvPr id="3" name="TextBox 2"/>
          <p:cNvSpPr txBox="1"/>
          <p:nvPr/>
        </p:nvSpPr>
        <p:spPr>
          <a:xfrm>
            <a:off x="548640" y="1097280"/>
            <a:ext cx="11064240" cy="411480"/>
          </a:xfrm>
          <a:prstGeom prst="rect">
            <a:avLst/>
          </a:prstGeom>
          <a:noFill/>
        </p:spPr>
        <p:txBody>
          <a:bodyPr wrap="square" anchor="t" lIns="0" rIns="0" tIns="0" bIns="0">
            <a:spAutoFit/>
          </a:bodyPr>
          <a:lstStyle/>
          <a:p>
            <a:pPr algn="l">
              <a:spcAft>
                <a:spcPts val="0"/>
              </a:spcAft>
            </a:pPr>
            <a:r>
              <a:rPr sz="1600" b="0" i="0">
                <a:solidFill>
                  <a:srgbClr val="5B6B7C"/>
                </a:solidFill>
                <a:latin typeface="Calibri"/>
              </a:rPr>
              <a:t>Ommatidia's option 3, wired to our controller. It works today, with every shaker and DAQ we have</a:t>
            </a:r>
          </a:p>
        </p:txBody>
      </p:sp>
      <p:sp>
        <p:nvSpPr>
          <p:cNvPr id="4" name="TextBox 3"/>
          <p:cNvSpPr txBox="1"/>
          <p:nvPr/>
        </p:nvSpPr>
        <p:spPr>
          <a:xfrm>
            <a:off x="548640" y="6400800"/>
            <a:ext cx="8229600" cy="274320"/>
          </a:xfrm>
          <a:prstGeom prst="rect">
            <a:avLst/>
          </a:prstGeom>
          <a:noFill/>
        </p:spPr>
        <p:txBody>
          <a:bodyPr wrap="square" anchor="t" lIns="0" rIns="0" tIns="0" bIns="0">
            <a:spAutoFit/>
          </a:bodyPr>
          <a:lstStyle/>
          <a:p>
            <a:pPr algn="l">
              <a:spcAft>
                <a:spcPts val="0"/>
              </a:spcAft>
            </a:pPr>
            <a:r>
              <a:rPr sz="1000" b="0" i="0">
                <a:solidFill>
                  <a:srgbClr val="5B6B7C"/>
                </a:solidFill>
                <a:latin typeface="Calibri"/>
              </a:rPr>
              <a:t>Q2 lidar + vcactl integration</a:t>
            </a:r>
          </a:p>
        </p:txBody>
      </p:sp>
      <p:sp>
        <p:nvSpPr>
          <p:cNvPr id="5" name="TextBox 4"/>
          <p:cNvSpPr txBox="1"/>
          <p:nvPr/>
        </p:nvSpPr>
        <p:spPr>
          <a:xfrm>
            <a:off x="10698480" y="6400800"/>
            <a:ext cx="914400" cy="274320"/>
          </a:xfrm>
          <a:prstGeom prst="rect">
            <a:avLst/>
          </a:prstGeom>
          <a:noFill/>
        </p:spPr>
        <p:txBody>
          <a:bodyPr wrap="square" anchor="t" lIns="0" rIns="0" tIns="0" bIns="0">
            <a:spAutoFit/>
          </a:bodyPr>
          <a:lstStyle/>
          <a:p>
            <a:pPr algn="r">
              <a:spcAft>
                <a:spcPts val="0"/>
              </a:spcAft>
            </a:pPr>
            <a:r>
              <a:rPr sz="1000" b="0" i="0">
                <a:solidFill>
                  <a:srgbClr val="5B6B7C"/>
                </a:solidFill>
                <a:latin typeface="Calibri"/>
              </a:rPr>
              <a:t>2 / 12</a:t>
            </a:r>
          </a:p>
        </p:txBody>
      </p:sp>
      <p:sp>
        <p:nvSpPr>
          <p:cNvPr id="6" name="Rounded Rectangle 5"/>
          <p:cNvSpPr/>
          <p:nvPr/>
        </p:nvSpPr>
        <p:spPr>
          <a:xfrm>
            <a:off x="548640" y="1783080"/>
            <a:ext cx="3474720" cy="1874519"/>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59" y="1874519"/>
            <a:ext cx="3017520" cy="914400"/>
          </a:xfrm>
          <a:prstGeom prst="rect">
            <a:avLst/>
          </a:prstGeom>
          <a:noFill/>
        </p:spPr>
        <p:txBody>
          <a:bodyPr wrap="square" anchor="t" lIns="0" rIns="0" tIns="0" bIns="0">
            <a:spAutoFit/>
          </a:bodyPr>
          <a:lstStyle/>
          <a:p>
            <a:pPr algn="l">
              <a:spcAft>
                <a:spcPts val="0"/>
              </a:spcAft>
            </a:pPr>
            <a:r>
              <a:rPr sz="4800" b="1" i="0">
                <a:solidFill>
                  <a:srgbClr val="0F767E"/>
                </a:solidFill>
                <a:latin typeface="Cambria"/>
              </a:rPr>
              <a:t>0</a:t>
            </a:r>
          </a:p>
        </p:txBody>
      </p:sp>
      <p:sp>
        <p:nvSpPr>
          <p:cNvPr id="8" name="TextBox 7"/>
          <p:cNvSpPr txBox="1"/>
          <p:nvPr/>
        </p:nvSpPr>
        <p:spPr>
          <a:xfrm>
            <a:off x="822959" y="2788920"/>
            <a:ext cx="3017520" cy="822960"/>
          </a:xfrm>
          <a:prstGeom prst="rect">
            <a:avLst/>
          </a:prstGeom>
          <a:noFill/>
        </p:spPr>
        <p:txBody>
          <a:bodyPr wrap="square" anchor="t" lIns="0" rIns="0" tIns="0" bIns="0">
            <a:spAutoFit/>
          </a:bodyPr>
          <a:lstStyle/>
          <a:p>
            <a:pPr algn="l">
              <a:spcAft>
                <a:spcPts val="0"/>
              </a:spcAft>
            </a:pPr>
            <a:r>
              <a:rPr sz="1400" b="0" i="0">
                <a:solidFill>
                  <a:srgbClr val="2E3D4F"/>
                </a:solidFill>
                <a:latin typeface="Calibri"/>
              </a:rPr>
              <a:t>changes to the
controller software</a:t>
            </a:r>
          </a:p>
        </p:txBody>
      </p:sp>
      <p:sp>
        <p:nvSpPr>
          <p:cNvPr id="9" name="Rounded Rectangle 8"/>
          <p:cNvSpPr/>
          <p:nvPr/>
        </p:nvSpPr>
        <p:spPr>
          <a:xfrm>
            <a:off x="4297679" y="1783080"/>
            <a:ext cx="3474720" cy="1874519"/>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1999" y="1874519"/>
            <a:ext cx="3017520" cy="914400"/>
          </a:xfrm>
          <a:prstGeom prst="rect">
            <a:avLst/>
          </a:prstGeom>
          <a:noFill/>
        </p:spPr>
        <p:txBody>
          <a:bodyPr wrap="square" anchor="t" lIns="0" rIns="0" tIns="0" bIns="0">
            <a:spAutoFit/>
          </a:bodyPr>
          <a:lstStyle/>
          <a:p>
            <a:pPr algn="l">
              <a:spcAft>
                <a:spcPts val="0"/>
              </a:spcAft>
            </a:pPr>
            <a:r>
              <a:rPr sz="4800" b="1" i="0">
                <a:solidFill>
                  <a:srgbClr val="0F767E"/>
                </a:solidFill>
                <a:latin typeface="Cambria"/>
              </a:rPr>
              <a:t>4 / 4</a:t>
            </a:r>
          </a:p>
        </p:txBody>
      </p:sp>
      <p:sp>
        <p:nvSpPr>
          <p:cNvPr id="11" name="TextBox 10"/>
          <p:cNvSpPr txBox="1"/>
          <p:nvPr/>
        </p:nvSpPr>
        <p:spPr>
          <a:xfrm>
            <a:off x="4571999" y="2788920"/>
            <a:ext cx="3017520" cy="822960"/>
          </a:xfrm>
          <a:prstGeom prst="rect">
            <a:avLst/>
          </a:prstGeom>
          <a:noFill/>
        </p:spPr>
        <p:txBody>
          <a:bodyPr wrap="square" anchor="t" lIns="0" rIns="0" tIns="0" bIns="0">
            <a:spAutoFit/>
          </a:bodyPr>
          <a:lstStyle/>
          <a:p>
            <a:pPr algn="l">
              <a:spcAft>
                <a:spcPts val="0"/>
              </a:spcAft>
            </a:pPr>
            <a:r>
              <a:rPr sz="1400" b="0" i="0">
                <a:solidFill>
                  <a:srgbClr val="2E3D4F"/>
                </a:solidFill>
                <a:latin typeface="Calibri"/>
              </a:rPr>
              <a:t>shakers supported
(TIRA ×2, BK 4809, BK 4801/4812)</a:t>
            </a:r>
          </a:p>
        </p:txBody>
      </p:sp>
      <p:sp>
        <p:nvSpPr>
          <p:cNvPr id="12" name="Rounded Rectangle 11"/>
          <p:cNvSpPr/>
          <p:nvPr/>
        </p:nvSpPr>
        <p:spPr>
          <a:xfrm>
            <a:off x="8046719" y="1783080"/>
            <a:ext cx="3474720" cy="1874519"/>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21040" y="1874519"/>
            <a:ext cx="3017520" cy="914400"/>
          </a:xfrm>
          <a:prstGeom prst="rect">
            <a:avLst/>
          </a:prstGeom>
          <a:noFill/>
        </p:spPr>
        <p:txBody>
          <a:bodyPr wrap="square" anchor="t" lIns="0" rIns="0" tIns="0" bIns="0">
            <a:spAutoFit/>
          </a:bodyPr>
          <a:lstStyle/>
          <a:p>
            <a:pPr algn="l">
              <a:spcAft>
                <a:spcPts val="0"/>
              </a:spcAft>
            </a:pPr>
            <a:r>
              <a:rPr sz="4800" b="1" i="0">
                <a:solidFill>
                  <a:srgbClr val="0F767E"/>
                </a:solidFill>
                <a:latin typeface="Cambria"/>
              </a:rPr>
              <a:t>1</a:t>
            </a:r>
          </a:p>
        </p:txBody>
      </p:sp>
      <p:sp>
        <p:nvSpPr>
          <p:cNvPr id="14" name="TextBox 13"/>
          <p:cNvSpPr txBox="1"/>
          <p:nvPr/>
        </p:nvSpPr>
        <p:spPr>
          <a:xfrm>
            <a:off x="8321040" y="2788920"/>
            <a:ext cx="3017520" cy="822960"/>
          </a:xfrm>
          <a:prstGeom prst="rect">
            <a:avLst/>
          </a:prstGeom>
          <a:noFill/>
        </p:spPr>
        <p:txBody>
          <a:bodyPr wrap="square" anchor="t" lIns="0" rIns="0" tIns="0" bIns="0">
            <a:spAutoFit/>
          </a:bodyPr>
          <a:lstStyle/>
          <a:p>
            <a:pPr algn="l">
              <a:spcAft>
                <a:spcPts val="0"/>
              </a:spcAft>
            </a:pPr>
            <a:r>
              <a:rPr sz="1400" b="0" i="0">
                <a:solidFill>
                  <a:srgbClr val="2E3D4F"/>
                </a:solidFill>
                <a:latin typeface="Calibri"/>
              </a:rPr>
              <a:t>BNC tee per setup
(+ DC blocker if the DAQ powers the IEPE sensor)</a:t>
            </a:r>
          </a:p>
        </p:txBody>
      </p:sp>
      <p:sp>
        <p:nvSpPr>
          <p:cNvPr id="15" name="TextBox 14"/>
          <p:cNvSpPr txBox="1"/>
          <p:nvPr/>
        </p:nvSpPr>
        <p:spPr>
          <a:xfrm>
            <a:off x="548640" y="3977639"/>
            <a:ext cx="11064240" cy="2286000"/>
          </a:xfrm>
          <a:prstGeom prst="rect">
            <a:avLst/>
          </a:prstGeom>
          <a:noFill/>
        </p:spPr>
        <p:txBody>
          <a:bodyPr wrap="square" anchor="t" lIns="0" rIns="0" tIns="0" bIns="0">
            <a:spAutoFit/>
          </a:bodyPr>
          <a:lstStyle/>
          <a:p>
            <a:pPr algn="l" marL="228600" indent="-228600">
              <a:spcAft>
                <a:spcPts val="800"/>
              </a:spcAft>
              <a:buChar char="•"/>
            </a:pPr>
            <a:r>
              <a:rPr sz="1500" b="1" i="0">
                <a:solidFill>
                  <a:srgbClr val="1B2633"/>
                </a:solidFill>
                <a:latin typeface="Calibri"/>
              </a:rPr>
              <a:t>How it works: </a:t>
            </a:r>
            <a:r>
              <a:rPr sz="1500" b="0" i="0">
                <a:solidFill>
                  <a:srgbClr val="1B2633"/>
                </a:solidFill>
                <a:latin typeface="Calibri"/>
              </a:rPr>
              <a:t>vcactl keeps closing the loop on the accelerometer; the same signal goes to the Q2 Analog In as its reference. The Q2 then computes lidar/acceleration FRFs (transmissibility) on its own clock.</a:t>
            </a:r>
          </a:p>
          <a:p>
            <a:pPr algn="l" marL="228600" indent="-228600">
              <a:spcAft>
                <a:spcPts val="800"/>
              </a:spcAft>
              <a:buChar char="•"/>
            </a:pPr>
            <a:r>
              <a:rPr sz="1500" b="1" i="0">
                <a:solidFill>
                  <a:srgbClr val="1B2633"/>
                </a:solidFill>
                <a:latin typeface="Calibri"/>
              </a:rPr>
              <a:t>Why this one: </a:t>
            </a:r>
            <a:r>
              <a:rPr sz="1500" b="0" i="0">
                <a:solidFill>
                  <a:srgbClr val="1B2633"/>
                </a:solidFill>
                <a:latin typeface="Calibri"/>
              </a:rPr>
              <a:t>no clock sync between the Q2 and the NI DAQ is needed, because the Q2 samples reference and lidar together. The controller's safety aborts stay in place.</a:t>
            </a:r>
          </a:p>
          <a:p>
            <a:pPr algn="l" marL="228600" indent="-228600">
              <a:spcAft>
                <a:spcPts val="800"/>
              </a:spcAft>
              <a:buChar char="•"/>
            </a:pPr>
            <a:r>
              <a:rPr sz="1500" b="1" i="0">
                <a:solidFill>
                  <a:srgbClr val="1B2633"/>
                </a:solidFill>
                <a:latin typeface="Calibri"/>
              </a:rPr>
              <a:t>What to check: </a:t>
            </a:r>
            <a:r>
              <a:rPr sz="1500" b="0" i="0">
                <a:solidFill>
                  <a:srgbClr val="1B2633"/>
                </a:solidFill>
                <a:latin typeface="Calibri"/>
              </a:rPr>
              <a:t>keep the shared signal inside the Q2's ±2 V (slide 7), and confirm with Ommatidia that the Q2 handles non-periodic random excitation and resolves nm-level motion at kHz (slides 9,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nchor="b" lIns="0" rIns="0" tIns="0" bIns="0">
            <a:spAutoFit/>
          </a:bodyPr>
          <a:lstStyle/>
          <a:p>
            <a:pPr algn="l">
              <a:spcAft>
                <a:spcPts val="0"/>
              </a:spcAft>
            </a:pPr>
            <a:r>
              <a:rPr sz="3200" b="1" i="0">
                <a:solidFill>
                  <a:srgbClr val="1B2633"/>
                </a:solidFill>
                <a:latin typeface="Cambria"/>
              </a:rPr>
              <a:t>What Ommatidia proposed for the VR9700</a:t>
            </a:r>
          </a:p>
        </p:txBody>
      </p:sp>
      <p:sp>
        <p:nvSpPr>
          <p:cNvPr id="3" name="TextBox 2"/>
          <p:cNvSpPr txBox="1"/>
          <p:nvPr/>
        </p:nvSpPr>
        <p:spPr>
          <a:xfrm>
            <a:off x="548640" y="1097280"/>
            <a:ext cx="11064240" cy="411480"/>
          </a:xfrm>
          <a:prstGeom prst="rect">
            <a:avLst/>
          </a:prstGeom>
          <a:noFill/>
        </p:spPr>
        <p:txBody>
          <a:bodyPr wrap="square" anchor="t" lIns="0" rIns="0" tIns="0" bIns="0">
            <a:spAutoFit/>
          </a:bodyPr>
          <a:lstStyle/>
          <a:p>
            <a:pPr algn="l">
              <a:spcAft>
                <a:spcPts val="0"/>
              </a:spcAft>
            </a:pPr>
            <a:r>
              <a:rPr sz="1600" b="0" i="0">
                <a:solidFill>
                  <a:srgbClr val="5B6B7C"/>
                </a:solidFill>
                <a:latin typeface="Calibri"/>
              </a:rPr>
              <a:t>Three options for a VR9700 + BDA 120 + S 51110 setup, plus two sharing circuits</a:t>
            </a:r>
          </a:p>
        </p:txBody>
      </p:sp>
      <p:sp>
        <p:nvSpPr>
          <p:cNvPr id="4" name="TextBox 3"/>
          <p:cNvSpPr txBox="1"/>
          <p:nvPr/>
        </p:nvSpPr>
        <p:spPr>
          <a:xfrm>
            <a:off x="548640" y="6400800"/>
            <a:ext cx="8229600" cy="274320"/>
          </a:xfrm>
          <a:prstGeom prst="rect">
            <a:avLst/>
          </a:prstGeom>
          <a:noFill/>
        </p:spPr>
        <p:txBody>
          <a:bodyPr wrap="square" anchor="t" lIns="0" rIns="0" tIns="0" bIns="0">
            <a:spAutoFit/>
          </a:bodyPr>
          <a:lstStyle/>
          <a:p>
            <a:pPr algn="l">
              <a:spcAft>
                <a:spcPts val="0"/>
              </a:spcAft>
            </a:pPr>
            <a:r>
              <a:rPr sz="1000" b="0" i="0">
                <a:solidFill>
                  <a:srgbClr val="5B6B7C"/>
                </a:solidFill>
                <a:latin typeface="Calibri"/>
              </a:rPr>
              <a:t>Q2 lidar + vcactl integration</a:t>
            </a:r>
          </a:p>
        </p:txBody>
      </p:sp>
      <p:sp>
        <p:nvSpPr>
          <p:cNvPr id="5" name="TextBox 4"/>
          <p:cNvSpPr txBox="1"/>
          <p:nvPr/>
        </p:nvSpPr>
        <p:spPr>
          <a:xfrm>
            <a:off x="10698480" y="6400800"/>
            <a:ext cx="914400" cy="274320"/>
          </a:xfrm>
          <a:prstGeom prst="rect">
            <a:avLst/>
          </a:prstGeom>
          <a:noFill/>
        </p:spPr>
        <p:txBody>
          <a:bodyPr wrap="square" anchor="t" lIns="0" rIns="0" tIns="0" bIns="0">
            <a:spAutoFit/>
          </a:bodyPr>
          <a:lstStyle/>
          <a:p>
            <a:pPr algn="r">
              <a:spcAft>
                <a:spcPts val="0"/>
              </a:spcAft>
            </a:pPr>
            <a:r>
              <a:rPr sz="1000" b="0" i="0">
                <a:solidFill>
                  <a:srgbClr val="5B6B7C"/>
                </a:solidFill>
                <a:latin typeface="Calibri"/>
              </a:rPr>
              <a:t>3 / 12</a:t>
            </a:r>
          </a:p>
        </p:txBody>
      </p:sp>
      <p:pic>
        <p:nvPicPr>
          <p:cNvPr id="6" name="Picture 5" descr="q2_crop1.png"/>
          <p:cNvPicPr>
            <a:picLocks noChangeAspect="1"/>
          </p:cNvPicPr>
          <p:nvPr/>
        </p:nvPicPr>
        <p:blipFill>
          <a:blip r:embed="rId2"/>
          <a:stretch>
            <a:fillRect/>
          </a:stretch>
        </p:blipFill>
        <p:spPr>
          <a:xfrm>
            <a:off x="548640" y="1783080"/>
            <a:ext cx="2651760" cy="1177135"/>
          </a:xfrm>
          <a:prstGeom prst="rect">
            <a:avLst/>
          </a:prstGeom>
          <a:ln>
            <a:solidFill>
              <a:srgbClr val="C9D3DC"/>
            </a:solidFill>
          </a:ln>
        </p:spPr>
      </p:pic>
      <p:sp>
        <p:nvSpPr>
          <p:cNvPr id="7" name="TextBox 6"/>
          <p:cNvSpPr txBox="1"/>
          <p:nvPr/>
        </p:nvSpPr>
        <p:spPr>
          <a:xfrm>
            <a:off x="548640" y="3188815"/>
            <a:ext cx="2651760" cy="640080"/>
          </a:xfrm>
          <a:prstGeom prst="rect">
            <a:avLst/>
          </a:prstGeom>
          <a:noFill/>
        </p:spPr>
        <p:txBody>
          <a:bodyPr wrap="square" anchor="t" lIns="0" rIns="0" tIns="0" bIns="0">
            <a:spAutoFit/>
          </a:bodyPr>
          <a:lstStyle/>
          <a:p>
            <a:pPr algn="l">
              <a:spcAft>
                <a:spcPts val="0"/>
              </a:spcAft>
            </a:pPr>
            <a:r>
              <a:rPr sz="1500" b="1" i="0">
                <a:solidFill>
                  <a:srgbClr val="1B2633"/>
                </a:solidFill>
                <a:latin typeface="Calibri"/>
              </a:rPr>
              <a:t>Option 1: COLA reference</a:t>
            </a:r>
          </a:p>
        </p:txBody>
      </p:sp>
      <p:sp>
        <p:nvSpPr>
          <p:cNvPr id="8" name="TextBox 7"/>
          <p:cNvSpPr txBox="1"/>
          <p:nvPr/>
        </p:nvSpPr>
        <p:spPr>
          <a:xfrm>
            <a:off x="548640" y="3828894"/>
            <a:ext cx="2651760" cy="2011680"/>
          </a:xfrm>
          <a:prstGeom prst="rect">
            <a:avLst/>
          </a:prstGeom>
          <a:noFill/>
        </p:spPr>
        <p:txBody>
          <a:bodyPr wrap="square" anchor="t" lIns="0" rIns="0" tIns="0" bIns="0">
            <a:spAutoFit/>
          </a:bodyPr>
          <a:lstStyle/>
          <a:p>
            <a:pPr algn="l">
              <a:spcAft>
                <a:spcPts val="0"/>
              </a:spcAft>
            </a:pPr>
            <a:r>
              <a:rPr sz="1300" b="0" i="0">
                <a:solidFill>
                  <a:srgbClr val="2E3D4F"/>
                </a:solidFill>
                <a:latin typeface="Calibri"/>
              </a:rPr>
              <a:t>VR9700 COLA output → Q2 Analog In. COLA is a constant-amplitude sine that follows the sine drive frequency</a:t>
            </a:r>
          </a:p>
        </p:txBody>
      </p:sp>
      <p:pic>
        <p:nvPicPr>
          <p:cNvPr id="9" name="Picture 8" descr="q2_crop2.png"/>
          <p:cNvPicPr>
            <a:picLocks noChangeAspect="1"/>
          </p:cNvPicPr>
          <p:nvPr/>
        </p:nvPicPr>
        <p:blipFill>
          <a:blip r:embed="rId3"/>
          <a:stretch>
            <a:fillRect/>
          </a:stretch>
        </p:blipFill>
        <p:spPr>
          <a:xfrm>
            <a:off x="3355848" y="1783080"/>
            <a:ext cx="2651760" cy="1177135"/>
          </a:xfrm>
          <a:prstGeom prst="rect">
            <a:avLst/>
          </a:prstGeom>
          <a:ln>
            <a:solidFill>
              <a:srgbClr val="C9D3DC"/>
            </a:solidFill>
          </a:ln>
        </p:spPr>
      </p:pic>
      <p:sp>
        <p:nvSpPr>
          <p:cNvPr id="10" name="TextBox 9"/>
          <p:cNvSpPr txBox="1"/>
          <p:nvPr/>
        </p:nvSpPr>
        <p:spPr>
          <a:xfrm>
            <a:off x="3355848" y="3188815"/>
            <a:ext cx="2651760" cy="640080"/>
          </a:xfrm>
          <a:prstGeom prst="rect">
            <a:avLst/>
          </a:prstGeom>
          <a:noFill/>
        </p:spPr>
        <p:txBody>
          <a:bodyPr wrap="square" anchor="t" lIns="0" rIns="0" tIns="0" bIns="0">
            <a:spAutoFit/>
          </a:bodyPr>
          <a:lstStyle/>
          <a:p>
            <a:pPr algn="l">
              <a:spcAft>
                <a:spcPts val="0"/>
              </a:spcAft>
            </a:pPr>
            <a:r>
              <a:rPr sz="1500" b="1" i="0">
                <a:solidFill>
                  <a:srgbClr val="1B2633"/>
                </a:solidFill>
                <a:latin typeface="Calibri"/>
              </a:rPr>
              <a:t>Option 2: Q2 drives the shaker</a:t>
            </a:r>
          </a:p>
        </p:txBody>
      </p:sp>
      <p:sp>
        <p:nvSpPr>
          <p:cNvPr id="11" name="TextBox 10"/>
          <p:cNvSpPr txBox="1"/>
          <p:nvPr/>
        </p:nvSpPr>
        <p:spPr>
          <a:xfrm>
            <a:off x="3355848" y="3828894"/>
            <a:ext cx="2651760" cy="2011680"/>
          </a:xfrm>
          <a:prstGeom prst="rect">
            <a:avLst/>
          </a:prstGeom>
          <a:noFill/>
        </p:spPr>
        <p:txBody>
          <a:bodyPr wrap="square" anchor="t" lIns="0" rIns="0" tIns="0" bIns="0">
            <a:spAutoFit/>
          </a:bodyPr>
          <a:lstStyle/>
          <a:p>
            <a:pPr algn="l">
              <a:spcAft>
                <a:spcPts val="0"/>
              </a:spcAft>
            </a:pPr>
            <a:r>
              <a:rPr sz="1300" b="0" i="0">
                <a:solidFill>
                  <a:srgbClr val="2E3D4F"/>
                </a:solidFill>
                <a:latin typeface="Calibri"/>
              </a:rPr>
              <a:t>Q2 Analog Out → amplifier; VR9700 only records the drive and acceleration</a:t>
            </a:r>
          </a:p>
        </p:txBody>
      </p:sp>
      <p:pic>
        <p:nvPicPr>
          <p:cNvPr id="12" name="Picture 11" descr="q2_crop3.png"/>
          <p:cNvPicPr>
            <a:picLocks noChangeAspect="1"/>
          </p:cNvPicPr>
          <p:nvPr/>
        </p:nvPicPr>
        <p:blipFill>
          <a:blip r:embed="rId4"/>
          <a:stretch>
            <a:fillRect/>
          </a:stretch>
        </p:blipFill>
        <p:spPr>
          <a:xfrm>
            <a:off x="6163055" y="1783080"/>
            <a:ext cx="2651760" cy="1177135"/>
          </a:xfrm>
          <a:prstGeom prst="rect">
            <a:avLst/>
          </a:prstGeom>
          <a:ln>
            <a:solidFill>
              <a:srgbClr val="C9D3DC"/>
            </a:solidFill>
          </a:ln>
        </p:spPr>
      </p:pic>
      <p:sp>
        <p:nvSpPr>
          <p:cNvPr id="13" name="TextBox 12"/>
          <p:cNvSpPr txBox="1"/>
          <p:nvPr/>
        </p:nvSpPr>
        <p:spPr>
          <a:xfrm>
            <a:off x="6163055" y="3188815"/>
            <a:ext cx="2651760" cy="640080"/>
          </a:xfrm>
          <a:prstGeom prst="rect">
            <a:avLst/>
          </a:prstGeom>
          <a:noFill/>
        </p:spPr>
        <p:txBody>
          <a:bodyPr wrap="square" anchor="t" lIns="0" rIns="0" tIns="0" bIns="0">
            <a:spAutoFit/>
          </a:bodyPr>
          <a:lstStyle/>
          <a:p>
            <a:pPr algn="l">
              <a:spcAft>
                <a:spcPts val="0"/>
              </a:spcAft>
            </a:pPr>
            <a:r>
              <a:rPr sz="1500" b="1" i="0">
                <a:solidFill>
                  <a:srgbClr val="1B2633"/>
                </a:solidFill>
                <a:latin typeface="Calibri"/>
              </a:rPr>
              <a:t>Option 3: accelerometer reference</a:t>
            </a:r>
          </a:p>
        </p:txBody>
      </p:sp>
      <p:sp>
        <p:nvSpPr>
          <p:cNvPr id="14" name="TextBox 13"/>
          <p:cNvSpPr txBox="1"/>
          <p:nvPr/>
        </p:nvSpPr>
        <p:spPr>
          <a:xfrm>
            <a:off x="6163055" y="3828894"/>
            <a:ext cx="2651760" cy="2011680"/>
          </a:xfrm>
          <a:prstGeom prst="rect">
            <a:avLst/>
          </a:prstGeom>
          <a:noFill/>
        </p:spPr>
        <p:txBody>
          <a:bodyPr wrap="square" anchor="t" lIns="0" rIns="0" tIns="0" bIns="0">
            <a:spAutoFit/>
          </a:bodyPr>
          <a:lstStyle/>
          <a:p>
            <a:pPr algn="l">
              <a:spcAft>
                <a:spcPts val="0"/>
              </a:spcAft>
            </a:pPr>
            <a:r>
              <a:rPr sz="1300" b="0" i="0">
                <a:solidFill>
                  <a:srgbClr val="2E3D4F"/>
                </a:solidFill>
                <a:latin typeface="Calibri"/>
              </a:rPr>
              <a:t>VR9700 controls as usual; the control accelerometer is shared with the Q2 Analog In</a:t>
            </a:r>
          </a:p>
        </p:txBody>
      </p:sp>
      <p:pic>
        <p:nvPicPr>
          <p:cNvPr id="15" name="Picture 14" descr="q2_crop4.png"/>
          <p:cNvPicPr>
            <a:picLocks noChangeAspect="1"/>
          </p:cNvPicPr>
          <p:nvPr/>
        </p:nvPicPr>
        <p:blipFill>
          <a:blip r:embed="rId5"/>
          <a:stretch>
            <a:fillRect/>
          </a:stretch>
        </p:blipFill>
        <p:spPr>
          <a:xfrm>
            <a:off x="8970263" y="1783080"/>
            <a:ext cx="2651760" cy="1177135"/>
          </a:xfrm>
          <a:prstGeom prst="rect">
            <a:avLst/>
          </a:prstGeom>
          <a:ln>
            <a:solidFill>
              <a:srgbClr val="C9D3DC"/>
            </a:solidFill>
          </a:ln>
        </p:spPr>
      </p:pic>
      <p:sp>
        <p:nvSpPr>
          <p:cNvPr id="16" name="TextBox 15"/>
          <p:cNvSpPr txBox="1"/>
          <p:nvPr/>
        </p:nvSpPr>
        <p:spPr>
          <a:xfrm>
            <a:off x="8970263" y="3188815"/>
            <a:ext cx="2651760" cy="640080"/>
          </a:xfrm>
          <a:prstGeom prst="rect">
            <a:avLst/>
          </a:prstGeom>
          <a:noFill/>
        </p:spPr>
        <p:txBody>
          <a:bodyPr wrap="square" anchor="t" lIns="0" rIns="0" tIns="0" bIns="0">
            <a:spAutoFit/>
          </a:bodyPr>
          <a:lstStyle/>
          <a:p>
            <a:pPr algn="l">
              <a:spcAft>
                <a:spcPts val="0"/>
              </a:spcAft>
            </a:pPr>
            <a:r>
              <a:rPr sz="1500" b="1" i="0">
                <a:solidFill>
                  <a:srgbClr val="1B2633"/>
                </a:solidFill>
                <a:latin typeface="Calibri"/>
              </a:rPr>
              <a:t>Sharing circuits (options 2, 3)</a:t>
            </a:r>
          </a:p>
        </p:txBody>
      </p:sp>
      <p:sp>
        <p:nvSpPr>
          <p:cNvPr id="17" name="TextBox 16"/>
          <p:cNvSpPr txBox="1"/>
          <p:nvPr/>
        </p:nvSpPr>
        <p:spPr>
          <a:xfrm>
            <a:off x="8970263" y="3828894"/>
            <a:ext cx="2651760" cy="2011680"/>
          </a:xfrm>
          <a:prstGeom prst="rect">
            <a:avLst/>
          </a:prstGeom>
          <a:noFill/>
        </p:spPr>
        <p:txBody>
          <a:bodyPr wrap="square" anchor="t" lIns="0" rIns="0" tIns="0" bIns="0">
            <a:spAutoFit/>
          </a:bodyPr>
          <a:lstStyle/>
          <a:p>
            <a:pPr algn="l">
              <a:spcAft>
                <a:spcPts val="0"/>
              </a:spcAft>
            </a:pPr>
            <a:r>
              <a:rPr sz="1300" b="0" i="0">
                <a:solidFill>
                  <a:srgbClr val="2E3D4F"/>
                </a:solidFill>
                <a:latin typeface="Calibri"/>
              </a:rPr>
              <a:t>A: VR9700 powers the IEPE sensor, DC blocker to the Q2.  B: external Pico TA487 powers it, tee to both</a:t>
            </a:r>
          </a:p>
        </p:txBody>
      </p:sp>
      <p:sp>
        <p:nvSpPr>
          <p:cNvPr id="18" name="Rounded Rectangle 17"/>
          <p:cNvSpPr/>
          <p:nvPr/>
        </p:nvSpPr>
        <p:spPr>
          <a:xfrm>
            <a:off x="548640" y="5120640"/>
            <a:ext cx="11064240" cy="96012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2960" y="5120640"/>
            <a:ext cx="10515600" cy="960120"/>
          </a:xfrm>
          <a:prstGeom prst="rect">
            <a:avLst/>
          </a:prstGeom>
          <a:noFill/>
        </p:spPr>
        <p:txBody>
          <a:bodyPr wrap="square" anchor="ctr" lIns="0" rIns="0" tIns="0" bIns="0">
            <a:spAutoFit/>
          </a:bodyPr>
          <a:lstStyle/>
          <a:p>
            <a:pPr algn="l">
              <a:spcAft>
                <a:spcPts val="0"/>
              </a:spcAft>
            </a:pPr>
            <a:r>
              <a:rPr sz="1500" b="1" i="0">
                <a:solidFill>
                  <a:srgbClr val="2E3D4F"/>
                </a:solidFill>
                <a:latin typeface="Calibri"/>
              </a:rPr>
              <a:t>All three assume the VR9700's I/O </a:t>
            </a:r>
            <a:r>
              <a:rPr sz="1500" b="0" i="0">
                <a:solidFill>
                  <a:srgbClr val="2E3D4F"/>
                </a:solidFill>
                <a:latin typeface="Calibri"/>
              </a:rPr>
              <a:t>(4 inputs, drive + COLA outputs, sine and random). vcactl has one AO and one AI and runs random only, so the next slide maps each option onto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nchor="b" lIns="0" rIns="0" tIns="0" bIns="0">
            <a:spAutoFit/>
          </a:bodyPr>
          <a:lstStyle/>
          <a:p>
            <a:pPr algn="l">
              <a:spcAft>
                <a:spcPts val="0"/>
              </a:spcAft>
            </a:pPr>
            <a:r>
              <a:rPr sz="3200" b="1" i="0">
                <a:solidFill>
                  <a:srgbClr val="1B2633"/>
                </a:solidFill>
                <a:latin typeface="Cambria"/>
              </a:rPr>
              <a:t>How each option translates to vcactl</a:t>
            </a:r>
          </a:p>
        </p:txBody>
      </p:sp>
      <p:sp>
        <p:nvSpPr>
          <p:cNvPr id="3" name="TextBox 2"/>
          <p:cNvSpPr txBox="1"/>
          <p:nvPr/>
        </p:nvSpPr>
        <p:spPr>
          <a:xfrm>
            <a:off x="548640" y="1097280"/>
            <a:ext cx="11064240" cy="411480"/>
          </a:xfrm>
          <a:prstGeom prst="rect">
            <a:avLst/>
          </a:prstGeom>
          <a:noFill/>
        </p:spPr>
        <p:txBody>
          <a:bodyPr wrap="square" anchor="t" lIns="0" rIns="0" tIns="0" bIns="0">
            <a:spAutoFit/>
          </a:bodyPr>
          <a:lstStyle/>
          <a:p>
            <a:pPr algn="l">
              <a:spcAft>
                <a:spcPts val="0"/>
              </a:spcAft>
            </a:pPr>
            <a:r>
              <a:rPr sz="1600" b="0" i="0">
                <a:solidFill>
                  <a:srgbClr val="5B6B7C"/>
                </a:solidFill>
                <a:latin typeface="Calibri"/>
              </a:rPr>
              <a:t>vcactl drives one AO and reads one AI, runs random only, and has its safety aborts in the loop</a:t>
            </a:r>
          </a:p>
        </p:txBody>
      </p:sp>
      <p:sp>
        <p:nvSpPr>
          <p:cNvPr id="4" name="TextBox 3"/>
          <p:cNvSpPr txBox="1"/>
          <p:nvPr/>
        </p:nvSpPr>
        <p:spPr>
          <a:xfrm>
            <a:off x="548640" y="6400800"/>
            <a:ext cx="8229600" cy="274320"/>
          </a:xfrm>
          <a:prstGeom prst="rect">
            <a:avLst/>
          </a:prstGeom>
          <a:noFill/>
        </p:spPr>
        <p:txBody>
          <a:bodyPr wrap="square" anchor="t" lIns="0" rIns="0" tIns="0" bIns="0">
            <a:spAutoFit/>
          </a:bodyPr>
          <a:lstStyle/>
          <a:p>
            <a:pPr algn="l">
              <a:spcAft>
                <a:spcPts val="0"/>
              </a:spcAft>
            </a:pPr>
            <a:r>
              <a:rPr sz="1000" b="0" i="0">
                <a:solidFill>
                  <a:srgbClr val="5B6B7C"/>
                </a:solidFill>
                <a:latin typeface="Calibri"/>
              </a:rPr>
              <a:t>Q2 lidar + vcactl integration</a:t>
            </a:r>
          </a:p>
        </p:txBody>
      </p:sp>
      <p:sp>
        <p:nvSpPr>
          <p:cNvPr id="5" name="TextBox 4"/>
          <p:cNvSpPr txBox="1"/>
          <p:nvPr/>
        </p:nvSpPr>
        <p:spPr>
          <a:xfrm>
            <a:off x="10698480" y="6400800"/>
            <a:ext cx="914400" cy="274320"/>
          </a:xfrm>
          <a:prstGeom prst="rect">
            <a:avLst/>
          </a:prstGeom>
          <a:noFill/>
        </p:spPr>
        <p:txBody>
          <a:bodyPr wrap="square" anchor="t" lIns="0" rIns="0" tIns="0" bIns="0">
            <a:spAutoFit/>
          </a:bodyPr>
          <a:lstStyle/>
          <a:p>
            <a:pPr algn="r">
              <a:spcAft>
                <a:spcPts val="0"/>
              </a:spcAft>
            </a:pPr>
            <a:r>
              <a:rPr sz="1000" b="0" i="0">
                <a:solidFill>
                  <a:srgbClr val="5B6B7C"/>
                </a:solidFill>
                <a:latin typeface="Calibri"/>
              </a:rPr>
              <a:t>4 / 12</a:t>
            </a:r>
          </a:p>
        </p:txBody>
      </p:sp>
      <p:graphicFrame>
        <p:nvGraphicFramePr>
          <p:cNvPr id="6" name="Table 5"/>
          <p:cNvGraphicFramePr>
            <a:graphicFrameLocks noGrp="1"/>
          </p:cNvGraphicFramePr>
          <p:nvPr/>
        </p:nvGraphicFramePr>
        <p:xfrm>
          <a:off x="548640" y="1691640"/>
          <a:ext cx="11064240" cy="3474720"/>
        </p:xfrm>
        <a:graphic>
          <a:graphicData uri="http://schemas.openxmlformats.org/drawingml/2006/table">
            <a:tbl>
              <a:tblPr firstRow="0" bandRow="0">
                <a:tableStyleId>{2D5ABB26-0587-4C30-8999-92F81FD0307C}</a:tableStyleId>
              </a:tblPr>
              <a:tblGrid>
                <a:gridCol w="1920240"/>
                <a:gridCol w="3291840"/>
                <a:gridCol w="2926080"/>
                <a:gridCol w="1463040"/>
                <a:gridCol w="1463040"/>
              </a:tblGrid>
              <a:tr h="868680">
                <a:tc>
                  <a:txBody>
                    <a:bodyPr wrap="square"/>
                    <a:lstStyle/>
                    <a:p>
                      <a:pPr algn="l"/>
                      <a:r>
                        <a:rPr sz="1300" b="1">
                          <a:solidFill>
                            <a:srgbClr val="FFFFFF"/>
                          </a:solidFill>
                          <a:latin typeface="Calibri"/>
                        </a:rPr>
                        <a:t>Ommatidia option</a:t>
                      </a:r>
                    </a:p>
                  </a:txBody>
                  <a:tcPr marL="73152" marR="73152" marT="36576" marB="36576" anchor="ctr">
                    <a:solidFill>
                      <a:srgbClr val="2E3D4F"/>
                    </a:solidFill>
                  </a:tcPr>
                </a:tc>
                <a:tc>
                  <a:txBody>
                    <a:bodyPr wrap="square"/>
                    <a:lstStyle/>
                    <a:p>
                      <a:pPr algn="l"/>
                      <a:r>
                        <a:rPr sz="1300" b="1">
                          <a:solidFill>
                            <a:srgbClr val="FFFFFF"/>
                          </a:solidFill>
                          <a:latin typeface="Calibri"/>
                        </a:rPr>
                        <a:t>vcactl equivalent</a:t>
                      </a:r>
                    </a:p>
                  </a:txBody>
                  <a:tcPr marL="73152" marR="73152" marT="36576" marB="36576" anchor="ctr">
                    <a:solidFill>
                      <a:srgbClr val="2E3D4F"/>
                    </a:solidFill>
                  </a:tcPr>
                </a:tc>
                <a:tc>
                  <a:txBody>
                    <a:bodyPr wrap="square"/>
                    <a:lstStyle/>
                    <a:p>
                      <a:pPr algn="l"/>
                      <a:r>
                        <a:rPr sz="1300" b="1">
                          <a:solidFill>
                            <a:srgbClr val="FFFFFF"/>
                          </a:solidFill>
                          <a:latin typeface="Calibri"/>
                        </a:rPr>
                        <a:t>Hardware</a:t>
                      </a:r>
                    </a:p>
                  </a:txBody>
                  <a:tcPr marL="73152" marR="73152" marT="36576" marB="36576" anchor="ctr">
                    <a:solidFill>
                      <a:srgbClr val="2E3D4F"/>
                    </a:solidFill>
                  </a:tcPr>
                </a:tc>
                <a:tc>
                  <a:txBody>
                    <a:bodyPr wrap="square"/>
                    <a:lstStyle/>
                    <a:p>
                      <a:pPr algn="l"/>
                      <a:r>
                        <a:rPr sz="1300" b="1">
                          <a:solidFill>
                            <a:srgbClr val="FFFFFF"/>
                          </a:solidFill>
                          <a:latin typeface="Calibri"/>
                        </a:rPr>
                        <a:t>Software</a:t>
                      </a:r>
                    </a:p>
                  </a:txBody>
                  <a:tcPr marL="73152" marR="73152" marT="36576" marB="36576" anchor="ctr">
                    <a:solidFill>
                      <a:srgbClr val="2E3D4F"/>
                    </a:solidFill>
                  </a:tcPr>
                </a:tc>
                <a:tc>
                  <a:txBody>
                    <a:bodyPr wrap="square"/>
                    <a:lstStyle/>
                    <a:p>
                      <a:pPr algn="l"/>
                      <a:r>
                        <a:rPr sz="1300" b="1">
                          <a:solidFill>
                            <a:srgbClr val="FFFFFF"/>
                          </a:solidFill>
                          <a:latin typeface="Calibri"/>
                        </a:rPr>
                        <a:t>Verdict</a:t>
                      </a:r>
                    </a:p>
                  </a:txBody>
                  <a:tcPr marL="73152" marR="73152" marT="36576" marB="36576" anchor="ctr">
                    <a:solidFill>
                      <a:srgbClr val="2E3D4F"/>
                    </a:solidFill>
                  </a:tcPr>
                </a:tc>
              </a:tr>
              <a:tr h="868680">
                <a:tc>
                  <a:txBody>
                    <a:bodyPr wrap="square"/>
                    <a:lstStyle/>
                    <a:p>
                      <a:pPr algn="l"/>
                      <a:r>
                        <a:rPr sz="1300" b="0">
                          <a:solidFill>
                            <a:srgbClr val="1B2633"/>
                          </a:solidFill>
                          <a:latin typeface="Calibri"/>
                        </a:rPr>
                        <a:t>1  COLA reference</a:t>
                      </a:r>
                    </a:p>
                  </a:txBody>
                  <a:tcPr marL="73152" marR="73152" marT="36576" marB="36576" anchor="ctr">
                    <a:solidFill>
                      <a:srgbClr val="FFFFFF"/>
                    </a:solidFill>
                  </a:tcPr>
                </a:tc>
                <a:tc>
                  <a:txBody>
                    <a:bodyPr wrap="square"/>
                    <a:lstStyle/>
                    <a:p>
                      <a:pPr algn="l"/>
                      <a:r>
                        <a:rPr sz="1300" b="0">
                          <a:solidFill>
                            <a:srgbClr val="1B2633"/>
                          </a:solidFill>
                          <a:latin typeface="Calibri"/>
                        </a:rPr>
                        <a:t>No COLA: vcactl runs random, not sine. Closest is a scaled copy of the random drive as Q2 reference</a:t>
                      </a:r>
                    </a:p>
                  </a:txBody>
                  <a:tcPr marL="73152" marR="73152" marT="36576" marB="36576" anchor="ctr">
                    <a:solidFill>
                      <a:srgbClr val="FFFFFF"/>
                    </a:solidFill>
                  </a:tcPr>
                </a:tc>
                <a:tc>
                  <a:txBody>
                    <a:bodyPr wrap="square"/>
                    <a:lstStyle/>
                    <a:p>
                      <a:pPr algn="l"/>
                      <a:r>
                        <a:rPr sz="1300" b="0">
                          <a:solidFill>
                            <a:srgbClr val="1B2633"/>
                          </a:solidFill>
                          <a:latin typeface="Calibri"/>
                        </a:rPr>
                        <a:t>Tee + 2:1 divider on the drive, or a 2nd AO (USB-6211, PXIe-4468; not USB-4431)</a:t>
                      </a:r>
                    </a:p>
                  </a:txBody>
                  <a:tcPr marL="73152" marR="73152" marT="36576" marB="36576" anchor="ctr">
                    <a:solidFill>
                      <a:srgbClr val="FFFFFF"/>
                    </a:solidFill>
                  </a:tcPr>
                </a:tc>
                <a:tc>
                  <a:txBody>
                    <a:bodyPr wrap="square"/>
                    <a:lstStyle/>
                    <a:p>
                      <a:pPr algn="l"/>
                      <a:r>
                        <a:rPr sz="1300" b="0">
                          <a:solidFill>
                            <a:srgbClr val="1B2633"/>
                          </a:solidFill>
                          <a:latin typeface="Calibri"/>
                        </a:rPr>
                        <a:t>None (tee) / low (2nd AO)</a:t>
                      </a:r>
                    </a:p>
                  </a:txBody>
                  <a:tcPr marL="73152" marR="73152" marT="36576" marB="36576" anchor="ctr">
                    <a:solidFill>
                      <a:srgbClr val="FFFFFF"/>
                    </a:solidFill>
                  </a:tcPr>
                </a:tc>
                <a:tc>
                  <a:txBody>
                    <a:bodyPr wrap="square"/>
                    <a:lstStyle/>
                    <a:p>
                      <a:pPr algn="l"/>
                      <a:r>
                        <a:rPr sz="1300" b="1">
                          <a:solidFill>
                            <a:srgbClr val="B7791F"/>
                          </a:solidFill>
                          <a:latin typeface="Calibri"/>
                        </a:rPr>
                        <a:t>Later, if needed</a:t>
                      </a:r>
                    </a:p>
                  </a:txBody>
                  <a:tcPr marL="73152" marR="73152" marT="36576" marB="36576" anchor="ctr">
                    <a:solidFill>
                      <a:srgbClr val="FFFFFF"/>
                    </a:solidFill>
                  </a:tcPr>
                </a:tc>
              </a:tr>
              <a:tr h="868680">
                <a:tc>
                  <a:txBody>
                    <a:bodyPr wrap="square"/>
                    <a:lstStyle/>
                    <a:p>
                      <a:pPr algn="l"/>
                      <a:r>
                        <a:rPr sz="1300" b="0">
                          <a:solidFill>
                            <a:srgbClr val="1B2633"/>
                          </a:solidFill>
                          <a:latin typeface="Calibri"/>
                        </a:rPr>
                        <a:t>2  Q2 drives the shaker</a:t>
                      </a:r>
                    </a:p>
                  </a:txBody>
                  <a:tcPr marL="73152" marR="73152" marT="36576" marB="36576" anchor="ctr">
                    <a:solidFill>
                      <a:srgbClr val="EEF2F5"/>
                    </a:solidFill>
                  </a:tcPr>
                </a:tc>
                <a:tc>
                  <a:txBody>
                    <a:bodyPr wrap="square"/>
                    <a:lstStyle/>
                    <a:p>
                      <a:pPr algn="l"/>
                      <a:r>
                        <a:rPr sz="1300" b="0">
                          <a:solidFill>
                            <a:srgbClr val="1B2633"/>
                          </a:solidFill>
                          <a:latin typeface="Calibri"/>
                        </a:rPr>
                        <a:t>Q2 Analog Out on the amplifier; vcactl unplugged. Open loop: no level control, no aborts</a:t>
                      </a:r>
                    </a:p>
                  </a:txBody>
                  <a:tcPr marL="73152" marR="73152" marT="36576" marB="36576" anchor="ctr">
                    <a:solidFill>
                      <a:srgbClr val="EEF2F5"/>
                    </a:solidFill>
                  </a:tcPr>
                </a:tc>
                <a:tc>
                  <a:txBody>
                    <a:bodyPr wrap="square"/>
                    <a:lstStyle/>
                    <a:p>
                      <a:pPr algn="l"/>
                      <a:r>
                        <a:rPr sz="1300" b="0">
                          <a:solidFill>
                            <a:srgbClr val="1B2633"/>
                          </a:solidFill>
                          <a:latin typeface="Calibri"/>
                        </a:rPr>
                        <a:t>Q2 → amplifier input; DAQ AO disconnected (never two outputs on one input)</a:t>
                      </a:r>
                    </a:p>
                  </a:txBody>
                  <a:tcPr marL="73152" marR="73152" marT="36576" marB="36576" anchor="ctr">
                    <a:solidFill>
                      <a:srgbClr val="EEF2F5"/>
                    </a:solidFill>
                  </a:tcPr>
                </a:tc>
                <a:tc>
                  <a:txBody>
                    <a:bodyPr wrap="square"/>
                    <a:lstStyle/>
                    <a:p>
                      <a:pPr algn="l"/>
                      <a:r>
                        <a:rPr sz="1300" b="0">
                          <a:solidFill>
                            <a:srgbClr val="1B2633"/>
                          </a:solidFill>
                          <a:latin typeface="Calibri"/>
                        </a:rPr>
                        <a:t>High, if vcactl should monitor and abort</a:t>
                      </a:r>
                    </a:p>
                  </a:txBody>
                  <a:tcPr marL="73152" marR="73152" marT="36576" marB="36576" anchor="ctr">
                    <a:solidFill>
                      <a:srgbClr val="EEF2F5"/>
                    </a:solidFill>
                  </a:tcPr>
                </a:tc>
                <a:tc>
                  <a:txBody>
                    <a:bodyPr wrap="square"/>
                    <a:lstStyle/>
                    <a:p>
                      <a:pPr algn="l"/>
                      <a:r>
                        <a:rPr sz="1300" b="1">
                          <a:solidFill>
                            <a:srgbClr val="D93A2B"/>
                          </a:solidFill>
                          <a:latin typeface="Calibri"/>
                        </a:rPr>
                        <a:t>Avoid</a:t>
                      </a:r>
                    </a:p>
                  </a:txBody>
                  <a:tcPr marL="73152" marR="73152" marT="36576" marB="36576" anchor="ctr">
                    <a:solidFill>
                      <a:srgbClr val="EEF2F5"/>
                    </a:solidFill>
                  </a:tcPr>
                </a:tc>
              </a:tr>
              <a:tr h="868680">
                <a:tc>
                  <a:txBody>
                    <a:bodyPr wrap="square"/>
                    <a:lstStyle/>
                    <a:p>
                      <a:pPr algn="l"/>
                      <a:r>
                        <a:rPr sz="1300" b="0">
                          <a:solidFill>
                            <a:srgbClr val="1B2633"/>
                          </a:solidFill>
                          <a:latin typeface="Calibri"/>
                        </a:rPr>
                        <a:t>3  Accelerometer reference</a:t>
                      </a:r>
                    </a:p>
                  </a:txBody>
                  <a:tcPr marL="73152" marR="73152" marT="36576" marB="36576" anchor="ctr">
                    <a:solidFill>
                      <a:srgbClr val="DDEFF0"/>
                    </a:solidFill>
                  </a:tcPr>
                </a:tc>
                <a:tc>
                  <a:txBody>
                    <a:bodyPr wrap="square"/>
                    <a:lstStyle/>
                    <a:p>
                      <a:pPr algn="l"/>
                      <a:r>
                        <a:rPr sz="1300" b="0">
                          <a:solidFill>
                            <a:srgbClr val="1B2633"/>
                          </a:solidFill>
                          <a:latin typeface="Calibri"/>
                        </a:rPr>
                        <a:t>vcactl controls as usual; its accelerometer signal also feeds the Q2 Analog In</a:t>
                      </a:r>
                    </a:p>
                  </a:txBody>
                  <a:tcPr marL="73152" marR="73152" marT="36576" marB="36576" anchor="ctr">
                    <a:solidFill>
                      <a:srgbClr val="DDEFF0"/>
                    </a:solidFill>
                  </a:tcPr>
                </a:tc>
                <a:tc>
                  <a:txBody>
                    <a:bodyPr wrap="square"/>
                    <a:lstStyle/>
                    <a:p>
                      <a:pPr algn="l"/>
                      <a:r>
                        <a:rPr sz="1300" b="0">
                          <a:solidFill>
                            <a:srgbClr val="1B2633"/>
                          </a:solidFill>
                          <a:latin typeface="Calibri"/>
                        </a:rPr>
                        <a:t>BNC tee + DC blocker (DAQ powers the IEPE sensor), or tee on the IEPE conditioner output (USB-6211); slide 6</a:t>
                      </a:r>
                    </a:p>
                  </a:txBody>
                  <a:tcPr marL="73152" marR="73152" marT="36576" marB="36576" anchor="ctr">
                    <a:solidFill>
                      <a:srgbClr val="DDEFF0"/>
                    </a:solidFill>
                  </a:tcPr>
                </a:tc>
                <a:tc>
                  <a:txBody>
                    <a:bodyPr wrap="square"/>
                    <a:lstStyle/>
                    <a:p>
                      <a:pPr algn="l"/>
                      <a:r>
                        <a:rPr sz="1300" b="0">
                          <a:solidFill>
                            <a:srgbClr val="1B2633"/>
                          </a:solidFill>
                          <a:latin typeface="Calibri"/>
                        </a:rPr>
                        <a:t>None</a:t>
                      </a:r>
                    </a:p>
                  </a:txBody>
                  <a:tcPr marL="73152" marR="73152" marT="36576" marB="36576" anchor="ctr">
                    <a:solidFill>
                      <a:srgbClr val="DDEFF0"/>
                    </a:solidFill>
                  </a:tcPr>
                </a:tc>
                <a:tc>
                  <a:txBody>
                    <a:bodyPr wrap="square"/>
                    <a:lstStyle/>
                    <a:p>
                      <a:pPr algn="l"/>
                      <a:r>
                        <a:rPr sz="1300" b="1">
                          <a:solidFill>
                            <a:srgbClr val="0F767E"/>
                          </a:solidFill>
                          <a:latin typeface="Calibri"/>
                        </a:rPr>
                        <a:t>Use this</a:t>
                      </a:r>
                    </a:p>
                  </a:txBody>
                  <a:tcPr marL="73152" marR="73152" marT="36576" marB="36576" anchor="ctr">
                    <a:solidFill>
                      <a:srgbClr val="DDEFF0"/>
                    </a:solidFill>
                  </a:tcPr>
                </a:tc>
              </a:tr>
            </a:tbl>
          </a:graphicData>
        </a:graphic>
      </p:graphicFrame>
      <p:sp>
        <p:nvSpPr>
          <p:cNvPr id="7" name="TextBox 6"/>
          <p:cNvSpPr txBox="1"/>
          <p:nvPr/>
        </p:nvSpPr>
        <p:spPr>
          <a:xfrm>
            <a:off x="548640" y="5349240"/>
            <a:ext cx="11064240" cy="822960"/>
          </a:xfrm>
          <a:prstGeom prst="rect">
            <a:avLst/>
          </a:prstGeom>
          <a:noFill/>
        </p:spPr>
        <p:txBody>
          <a:bodyPr wrap="square" anchor="t" lIns="0" rIns="0" tIns="0" bIns="0">
            <a:spAutoFit/>
          </a:bodyPr>
          <a:lstStyle/>
          <a:p>
            <a:pPr algn="l">
              <a:spcAft>
                <a:spcPts val="0"/>
              </a:spcAft>
            </a:pPr>
            <a:r>
              <a:rPr sz="1400" b="0" i="0">
                <a:solidFill>
                  <a:srgbClr val="2E3D4F"/>
                </a:solidFill>
                <a:latin typeface="Calibri"/>
              </a:rPr>
              <a:t>A drive copy (option 1) gives Q2 FRFs relative to the drive, which include the amplifier and shaker dynamics. The acceleration reference (option 3) gives the motion of each point relative to the base, which is what a specimen test needs.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nchor="b" lIns="0" rIns="0" tIns="0" bIns="0">
            <a:spAutoFit/>
          </a:bodyPr>
          <a:lstStyle/>
          <a:p>
            <a:pPr algn="l">
              <a:spcAft>
                <a:spcPts val="0"/>
              </a:spcAft>
            </a:pPr>
            <a:r>
              <a:rPr sz="3200" b="1" i="0">
                <a:solidFill>
                  <a:srgbClr val="1B2633"/>
                </a:solidFill>
                <a:latin typeface="Cambria"/>
              </a:rPr>
              <a:t>Recommended setup: the Q2 listens in</a:t>
            </a:r>
          </a:p>
        </p:txBody>
      </p:sp>
      <p:sp>
        <p:nvSpPr>
          <p:cNvPr id="3" name="TextBox 2"/>
          <p:cNvSpPr txBox="1"/>
          <p:nvPr/>
        </p:nvSpPr>
        <p:spPr>
          <a:xfrm>
            <a:off x="548640" y="6400800"/>
            <a:ext cx="8229600" cy="274320"/>
          </a:xfrm>
          <a:prstGeom prst="rect">
            <a:avLst/>
          </a:prstGeom>
          <a:noFill/>
        </p:spPr>
        <p:txBody>
          <a:bodyPr wrap="square" anchor="t" lIns="0" rIns="0" tIns="0" bIns="0">
            <a:spAutoFit/>
          </a:bodyPr>
          <a:lstStyle/>
          <a:p>
            <a:pPr algn="l">
              <a:spcAft>
                <a:spcPts val="0"/>
              </a:spcAft>
            </a:pPr>
            <a:r>
              <a:rPr sz="1000" b="0" i="0">
                <a:solidFill>
                  <a:srgbClr val="5B6B7C"/>
                </a:solidFill>
                <a:latin typeface="Calibri"/>
              </a:rPr>
              <a:t>Q2 lidar + vcactl integration</a:t>
            </a:r>
          </a:p>
        </p:txBody>
      </p:sp>
      <p:sp>
        <p:nvSpPr>
          <p:cNvPr id="4" name="TextBox 3"/>
          <p:cNvSpPr txBox="1"/>
          <p:nvPr/>
        </p:nvSpPr>
        <p:spPr>
          <a:xfrm>
            <a:off x="10698480" y="6400800"/>
            <a:ext cx="914400" cy="274320"/>
          </a:xfrm>
          <a:prstGeom prst="rect">
            <a:avLst/>
          </a:prstGeom>
          <a:noFill/>
        </p:spPr>
        <p:txBody>
          <a:bodyPr wrap="square" anchor="t" lIns="0" rIns="0" tIns="0" bIns="0">
            <a:spAutoFit/>
          </a:bodyPr>
          <a:lstStyle/>
          <a:p>
            <a:pPr algn="r">
              <a:spcAft>
                <a:spcPts val="0"/>
              </a:spcAft>
            </a:pPr>
            <a:r>
              <a:rPr sz="1000" b="0" i="0">
                <a:solidFill>
                  <a:srgbClr val="5B6B7C"/>
                </a:solidFill>
                <a:latin typeface="Calibri"/>
              </a:rPr>
              <a:t>5 / 12</a:t>
            </a:r>
          </a:p>
        </p:txBody>
      </p:sp>
      <p:sp>
        <p:nvSpPr>
          <p:cNvPr id="5" name="Rounded Rectangle 4"/>
          <p:cNvSpPr/>
          <p:nvPr/>
        </p:nvSpPr>
        <p:spPr>
          <a:xfrm>
            <a:off x="548640" y="1417320"/>
            <a:ext cx="2926080" cy="1188720"/>
          </a:xfrm>
          <a:prstGeom prst="roundRect">
            <a:avLst>
              <a:gd name="adj" fmla="val 8000"/>
            </a:avLst>
          </a:prstGeom>
          <a:solidFill>
            <a:srgbClr val="1B2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21792" y="1417320"/>
            <a:ext cx="2779776" cy="1188720"/>
          </a:xfrm>
          <a:prstGeom prst="rect">
            <a:avLst/>
          </a:prstGeom>
          <a:noFill/>
        </p:spPr>
        <p:txBody>
          <a:bodyPr wrap="square" anchor="ctr" lIns="0" rIns="0" tIns="0" bIns="0">
            <a:spAutoFit/>
          </a:bodyPr>
          <a:lstStyle/>
          <a:p>
            <a:pPr algn="ctr">
              <a:spcAft>
                <a:spcPts val="0"/>
              </a:spcAft>
            </a:pPr>
            <a:r>
              <a:rPr sz="1500" b="1" i="0">
                <a:solidFill>
                  <a:srgbClr val="FFFFFF"/>
                </a:solidFill>
                <a:latin typeface="Calibri"/>
              </a:rPr>
              <a:t>Ommatidia Q2</a:t>
            </a:r>
          </a:p>
          <a:p>
            <a:pPr algn="ctr">
              <a:spcAft>
                <a:spcPts val="0"/>
              </a:spcAft>
            </a:pPr>
            <a:r>
              <a:rPr sz="1200" b="0" i="0">
                <a:solidFill>
                  <a:srgbClr val="C9D3DC"/>
                </a:solidFill>
                <a:latin typeface="Calibri"/>
              </a:rPr>
              <a:t>Analog In ±2 V:</a:t>
            </a:r>
          </a:p>
          <a:p>
            <a:pPr algn="ctr">
              <a:spcAft>
                <a:spcPts val="0"/>
              </a:spcAft>
            </a:pPr>
            <a:r>
              <a:rPr sz="1200" b="0" i="0">
                <a:solidFill>
                  <a:srgbClr val="C9D3DC"/>
                </a:solidFill>
                <a:latin typeface="Calibri"/>
              </a:rPr>
              <a:t>acceleration reference</a:t>
            </a:r>
          </a:p>
        </p:txBody>
      </p:sp>
      <p:sp>
        <p:nvSpPr>
          <p:cNvPr id="7" name="Rounded Rectangle 6"/>
          <p:cNvSpPr/>
          <p:nvPr/>
        </p:nvSpPr>
        <p:spPr>
          <a:xfrm>
            <a:off x="8503920" y="1417320"/>
            <a:ext cx="3108960" cy="2880360"/>
          </a:xfrm>
          <a:prstGeom prst="roundRect">
            <a:avLst>
              <a:gd name="adj" fmla="val 8000"/>
            </a:avLst>
          </a:prstGeom>
          <a:solidFill>
            <a:srgbClr val="2E3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503920" y="1444752"/>
            <a:ext cx="3108960" cy="365760"/>
          </a:xfrm>
          <a:prstGeom prst="rect">
            <a:avLst/>
          </a:prstGeom>
          <a:noFill/>
        </p:spPr>
        <p:txBody>
          <a:bodyPr wrap="square" anchor="t" lIns="0" rIns="0" tIns="0" bIns="0">
            <a:spAutoFit/>
          </a:bodyPr>
          <a:lstStyle/>
          <a:p>
            <a:pPr algn="ctr">
              <a:spcAft>
                <a:spcPts val="0"/>
              </a:spcAft>
            </a:pPr>
            <a:r>
              <a:rPr sz="1500" b="1" i="0">
                <a:solidFill>
                  <a:srgbClr val="FFFFFF"/>
                </a:solidFill>
                <a:latin typeface="Calibri"/>
              </a:rPr>
              <a:t>Test object</a:t>
            </a:r>
          </a:p>
        </p:txBody>
      </p:sp>
      <p:sp>
        <p:nvSpPr>
          <p:cNvPr id="9" name="Rounded Rectangle 8"/>
          <p:cNvSpPr/>
          <p:nvPr/>
        </p:nvSpPr>
        <p:spPr>
          <a:xfrm>
            <a:off x="8686800" y="1874519"/>
            <a:ext cx="2743200" cy="29260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759952" y="1874519"/>
            <a:ext cx="2596896" cy="292608"/>
          </a:xfrm>
          <a:prstGeom prst="rect">
            <a:avLst/>
          </a:prstGeom>
          <a:noFill/>
        </p:spPr>
        <p:txBody>
          <a:bodyPr wrap="square" anchor="ctr" lIns="0" rIns="0" tIns="0" bIns="0">
            <a:spAutoFit/>
          </a:bodyPr>
          <a:lstStyle/>
          <a:p>
            <a:pPr algn="ctr">
              <a:spcAft>
                <a:spcPts val="0"/>
              </a:spcAft>
            </a:pPr>
            <a:r>
              <a:rPr sz="1200" b="1" i="0">
                <a:solidFill>
                  <a:srgbClr val="1B2633"/>
                </a:solidFill>
                <a:latin typeface="Calibri"/>
              </a:rPr>
              <a:t>Point 1</a:t>
            </a:r>
          </a:p>
        </p:txBody>
      </p:sp>
      <p:cxnSp>
        <p:nvCxnSpPr>
          <p:cNvPr id="11" name="Connector 10"/>
          <p:cNvCxnSpPr/>
          <p:nvPr/>
        </p:nvCxnSpPr>
        <p:spPr>
          <a:xfrm>
            <a:off x="3474720" y="2011680"/>
            <a:ext cx="5212080" cy="9144"/>
          </a:xfrm>
          <a:prstGeom prst="line">
            <a:avLst/>
          </a:prstGeom>
          <a:ln w="15875">
            <a:solidFill>
              <a:srgbClr val="D93A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686800" y="2240280"/>
            <a:ext cx="2743200" cy="29260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759952" y="2240280"/>
            <a:ext cx="2596896" cy="292608"/>
          </a:xfrm>
          <a:prstGeom prst="rect">
            <a:avLst/>
          </a:prstGeom>
          <a:noFill/>
        </p:spPr>
        <p:txBody>
          <a:bodyPr wrap="square" anchor="ctr" lIns="0" rIns="0" tIns="0" bIns="0">
            <a:spAutoFit/>
          </a:bodyPr>
          <a:lstStyle/>
          <a:p>
            <a:pPr algn="ctr">
              <a:spcAft>
                <a:spcPts val="0"/>
              </a:spcAft>
            </a:pPr>
            <a:r>
              <a:rPr sz="1200" b="1" i="0">
                <a:solidFill>
                  <a:srgbClr val="1B2633"/>
                </a:solidFill>
                <a:latin typeface="Calibri"/>
              </a:rPr>
              <a:t>Point 2</a:t>
            </a:r>
          </a:p>
        </p:txBody>
      </p:sp>
      <p:cxnSp>
        <p:nvCxnSpPr>
          <p:cNvPr id="14" name="Connector 13"/>
          <p:cNvCxnSpPr/>
          <p:nvPr/>
        </p:nvCxnSpPr>
        <p:spPr>
          <a:xfrm>
            <a:off x="3474720" y="2011680"/>
            <a:ext cx="5212080" cy="374904"/>
          </a:xfrm>
          <a:prstGeom prst="line">
            <a:avLst/>
          </a:prstGeom>
          <a:ln w="15875">
            <a:solidFill>
              <a:srgbClr val="D93A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686800" y="2697480"/>
            <a:ext cx="2743200" cy="29260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759952" y="2697480"/>
            <a:ext cx="2596896" cy="292608"/>
          </a:xfrm>
          <a:prstGeom prst="rect">
            <a:avLst/>
          </a:prstGeom>
          <a:noFill/>
        </p:spPr>
        <p:txBody>
          <a:bodyPr wrap="square" anchor="ctr" lIns="0" rIns="0" tIns="0" bIns="0">
            <a:spAutoFit/>
          </a:bodyPr>
          <a:lstStyle/>
          <a:p>
            <a:pPr algn="ctr">
              <a:spcAft>
                <a:spcPts val="0"/>
              </a:spcAft>
            </a:pPr>
            <a:r>
              <a:rPr sz="1200" b="1" i="0">
                <a:solidFill>
                  <a:srgbClr val="1B2633"/>
                </a:solidFill>
                <a:latin typeface="Calibri"/>
              </a:rPr>
              <a:t>Point N</a:t>
            </a:r>
          </a:p>
        </p:txBody>
      </p:sp>
      <p:cxnSp>
        <p:nvCxnSpPr>
          <p:cNvPr id="17" name="Connector 16"/>
          <p:cNvCxnSpPr/>
          <p:nvPr/>
        </p:nvCxnSpPr>
        <p:spPr>
          <a:xfrm>
            <a:off x="3474720" y="2011680"/>
            <a:ext cx="5212080" cy="832104"/>
          </a:xfrm>
          <a:prstGeom prst="line">
            <a:avLst/>
          </a:prstGeom>
          <a:ln w="15875">
            <a:solidFill>
              <a:srgbClr val="D93A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686800" y="3108960"/>
            <a:ext cx="2743200" cy="29260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759952" y="3108960"/>
            <a:ext cx="2596896" cy="292608"/>
          </a:xfrm>
          <a:prstGeom prst="rect">
            <a:avLst/>
          </a:prstGeom>
          <a:noFill/>
        </p:spPr>
        <p:txBody>
          <a:bodyPr wrap="square" anchor="ctr" lIns="0" rIns="0" tIns="0" bIns="0">
            <a:spAutoFit/>
          </a:bodyPr>
          <a:lstStyle/>
          <a:p>
            <a:pPr algn="ctr">
              <a:spcAft>
                <a:spcPts val="0"/>
              </a:spcAft>
            </a:pPr>
            <a:r>
              <a:rPr sz="1200" b="1" i="0">
                <a:solidFill>
                  <a:srgbClr val="1B2633"/>
                </a:solidFill>
                <a:latin typeface="Calibri"/>
              </a:rPr>
              <a:t>Reference point on fixture</a:t>
            </a:r>
          </a:p>
        </p:txBody>
      </p:sp>
      <p:cxnSp>
        <p:nvCxnSpPr>
          <p:cNvPr id="20" name="Connector 19"/>
          <p:cNvCxnSpPr/>
          <p:nvPr/>
        </p:nvCxnSpPr>
        <p:spPr>
          <a:xfrm>
            <a:off x="3474720" y="2011680"/>
            <a:ext cx="5212080" cy="1243584"/>
          </a:xfrm>
          <a:prstGeom prst="line">
            <a:avLst/>
          </a:prstGeom>
          <a:ln w="15875">
            <a:solidFill>
              <a:srgbClr val="D93A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686800" y="2496312"/>
            <a:ext cx="2743200" cy="228600"/>
          </a:xfrm>
          <a:prstGeom prst="rect">
            <a:avLst/>
          </a:prstGeom>
          <a:noFill/>
        </p:spPr>
        <p:txBody>
          <a:bodyPr wrap="square" anchor="t" lIns="0" rIns="0" tIns="0" bIns="0">
            <a:spAutoFit/>
          </a:bodyPr>
          <a:lstStyle/>
          <a:p>
            <a:pPr algn="ctr">
              <a:spcAft>
                <a:spcPts val="0"/>
              </a:spcAft>
            </a:pPr>
            <a:r>
              <a:rPr sz="1200" b="0" i="0">
                <a:solidFill>
                  <a:srgbClr val="FFFFFF"/>
                </a:solidFill>
                <a:latin typeface="Calibri"/>
              </a:rPr>
              <a:t>…</a:t>
            </a:r>
          </a:p>
        </p:txBody>
      </p:sp>
      <p:sp>
        <p:nvSpPr>
          <p:cNvPr id="22" name="Rounded Rectangle 21"/>
          <p:cNvSpPr/>
          <p:nvPr/>
        </p:nvSpPr>
        <p:spPr>
          <a:xfrm>
            <a:off x="8686800" y="3566160"/>
            <a:ext cx="2743200" cy="566928"/>
          </a:xfrm>
          <a:prstGeom prst="roundRect">
            <a:avLst>
              <a:gd name="adj" fmla="val 8000"/>
            </a:avLst>
          </a:prstGeom>
          <a:solidFill>
            <a:srgbClr val="DD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759952" y="3566160"/>
            <a:ext cx="2596896" cy="566928"/>
          </a:xfrm>
          <a:prstGeom prst="rect">
            <a:avLst/>
          </a:prstGeom>
          <a:noFill/>
        </p:spPr>
        <p:txBody>
          <a:bodyPr wrap="square" anchor="ctr" lIns="0" rIns="0" tIns="0" bIns="0">
            <a:spAutoFit/>
          </a:bodyPr>
          <a:lstStyle/>
          <a:p>
            <a:pPr algn="ctr">
              <a:spcAft>
                <a:spcPts val="0"/>
              </a:spcAft>
            </a:pPr>
            <a:r>
              <a:rPr sz="1300" b="1" i="0">
                <a:solidFill>
                  <a:srgbClr val="1B2633"/>
                </a:solidFill>
                <a:latin typeface="Calibri"/>
              </a:rPr>
              <a:t>Control accelerometer</a:t>
            </a:r>
          </a:p>
          <a:p>
            <a:pPr algn="ctr">
              <a:spcAft>
                <a:spcPts val="0"/>
              </a:spcAft>
            </a:pPr>
            <a:r>
              <a:rPr sz="1100" b="0" i="0">
                <a:solidFill>
                  <a:srgbClr val="2E3D4F"/>
                </a:solidFill>
                <a:latin typeface="Calibri"/>
              </a:rPr>
              <a:t>IEPE, on the fixture</a:t>
            </a:r>
          </a:p>
        </p:txBody>
      </p:sp>
      <p:sp>
        <p:nvSpPr>
          <p:cNvPr id="24" name="TextBox 23"/>
          <p:cNvSpPr txBox="1"/>
          <p:nvPr/>
        </p:nvSpPr>
        <p:spPr>
          <a:xfrm>
            <a:off x="4572000" y="1371600"/>
            <a:ext cx="2743200" cy="320040"/>
          </a:xfrm>
          <a:prstGeom prst="rect">
            <a:avLst/>
          </a:prstGeom>
          <a:noFill/>
        </p:spPr>
        <p:txBody>
          <a:bodyPr wrap="square" anchor="t" lIns="0" rIns="0" tIns="0" bIns="0">
            <a:spAutoFit/>
          </a:bodyPr>
          <a:lstStyle/>
          <a:p>
            <a:pPr algn="l">
              <a:spcAft>
                <a:spcPts val="0"/>
              </a:spcAft>
            </a:pPr>
            <a:r>
              <a:rPr sz="1300" b="0" i="1">
                <a:solidFill>
                  <a:srgbClr val="D93A2B"/>
                </a:solidFill>
                <a:latin typeface="Calibri"/>
              </a:rPr>
              <a:t>multiple laser beams</a:t>
            </a:r>
          </a:p>
        </p:txBody>
      </p:sp>
      <p:sp>
        <p:nvSpPr>
          <p:cNvPr id="25" name="Rounded Rectangle 24"/>
          <p:cNvSpPr/>
          <p:nvPr/>
        </p:nvSpPr>
        <p:spPr>
          <a:xfrm>
            <a:off x="4754880" y="3246120"/>
            <a:ext cx="2743200" cy="868680"/>
          </a:xfrm>
          <a:prstGeom prst="roundRect">
            <a:avLst>
              <a:gd name="adj" fmla="val 8000"/>
            </a:avLst>
          </a:prstGeom>
          <a:solidFill>
            <a:srgbClr val="0F76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828032" y="3246120"/>
            <a:ext cx="2596896" cy="868680"/>
          </a:xfrm>
          <a:prstGeom prst="rect">
            <a:avLst/>
          </a:prstGeom>
          <a:noFill/>
        </p:spPr>
        <p:txBody>
          <a:bodyPr wrap="square" anchor="ctr" lIns="0" rIns="0" tIns="0" bIns="0">
            <a:spAutoFit/>
          </a:bodyPr>
          <a:lstStyle/>
          <a:p>
            <a:pPr algn="ctr">
              <a:spcAft>
                <a:spcPts val="0"/>
              </a:spcAft>
            </a:pPr>
            <a:r>
              <a:rPr sz="1500" b="1" i="0">
                <a:solidFill>
                  <a:srgbClr val="FFFFFF"/>
                </a:solidFill>
                <a:latin typeface="Calibri"/>
              </a:rPr>
              <a:t>Accelerometer sharing</a:t>
            </a:r>
          </a:p>
          <a:p>
            <a:pPr algn="ctr">
              <a:spcAft>
                <a:spcPts val="0"/>
              </a:spcAft>
            </a:pPr>
            <a:r>
              <a:rPr sz="1200" b="0" i="0">
                <a:solidFill>
                  <a:srgbClr val="DDEFF0"/>
                </a:solidFill>
                <a:latin typeface="Calibri"/>
              </a:rPr>
              <a:t>tee + DC blocker, or conditioner</a:t>
            </a:r>
          </a:p>
        </p:txBody>
      </p:sp>
      <p:cxnSp>
        <p:nvCxnSpPr>
          <p:cNvPr id="27" name="Connector 26"/>
          <p:cNvCxnSpPr/>
          <p:nvPr/>
        </p:nvCxnSpPr>
        <p:spPr>
          <a:xfrm flipH="1" flipV="1">
            <a:off x="7498079" y="3675887"/>
            <a:ext cx="1188721" cy="173737"/>
          </a:xfrm>
          <a:prstGeom prst="line">
            <a:avLst/>
          </a:prstGeom>
          <a:ln w="22225">
            <a:solidFill>
              <a:srgbClr val="0F76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1463040" y="3474720"/>
            <a:ext cx="3291840" cy="0"/>
          </a:xfrm>
          <a:prstGeom prst="line">
            <a:avLst/>
          </a:prstGeom>
          <a:ln w="22225">
            <a:solidFill>
              <a:srgbClr val="0F767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463040" y="2606040"/>
            <a:ext cx="0" cy="868680"/>
          </a:xfrm>
          <a:prstGeom prst="line">
            <a:avLst/>
          </a:prstGeom>
          <a:ln w="22225">
            <a:solidFill>
              <a:srgbClr val="0F767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600200" y="3108960"/>
            <a:ext cx="3017520" cy="320040"/>
          </a:xfrm>
          <a:prstGeom prst="rect">
            <a:avLst/>
          </a:prstGeom>
          <a:noFill/>
        </p:spPr>
        <p:txBody>
          <a:bodyPr wrap="square" anchor="t" lIns="0" rIns="0" tIns="0" bIns="0">
            <a:spAutoFit/>
          </a:bodyPr>
          <a:lstStyle/>
          <a:p>
            <a:pPr algn="l">
              <a:spcAft>
                <a:spcPts val="0"/>
              </a:spcAft>
            </a:pPr>
            <a:r>
              <a:rPr sz="1200" b="0" i="0">
                <a:solidFill>
                  <a:srgbClr val="0F767E"/>
                </a:solidFill>
                <a:latin typeface="Calibri"/>
              </a:rPr>
              <a:t>acceleration reference</a:t>
            </a:r>
          </a:p>
        </p:txBody>
      </p:sp>
      <p:cxnSp>
        <p:nvCxnSpPr>
          <p:cNvPr id="31" name="Connector 30"/>
          <p:cNvCxnSpPr/>
          <p:nvPr/>
        </p:nvCxnSpPr>
        <p:spPr>
          <a:xfrm flipH="1">
            <a:off x="2743200" y="3886200"/>
            <a:ext cx="2011680" cy="0"/>
          </a:xfrm>
          <a:prstGeom prst="line">
            <a:avLst/>
          </a:prstGeom>
          <a:ln w="22225">
            <a:solidFill>
              <a:srgbClr val="0F767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743200" y="3886200"/>
            <a:ext cx="0" cy="960120"/>
          </a:xfrm>
          <a:prstGeom prst="line">
            <a:avLst/>
          </a:prstGeom>
          <a:ln w="22225">
            <a:solidFill>
              <a:srgbClr val="0F767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880360" y="4160520"/>
            <a:ext cx="1828800" cy="320040"/>
          </a:xfrm>
          <a:prstGeom prst="rect">
            <a:avLst/>
          </a:prstGeom>
          <a:noFill/>
        </p:spPr>
        <p:txBody>
          <a:bodyPr wrap="square" anchor="t" lIns="0" rIns="0" tIns="0" bIns="0">
            <a:spAutoFit/>
          </a:bodyPr>
          <a:lstStyle/>
          <a:p>
            <a:pPr algn="l">
              <a:spcAft>
                <a:spcPts val="0"/>
              </a:spcAft>
            </a:pPr>
            <a:r>
              <a:rPr sz="1200" b="0" i="0">
                <a:solidFill>
                  <a:srgbClr val="0F767E"/>
                </a:solidFill>
                <a:latin typeface="Calibri"/>
              </a:rPr>
              <a:t>control signal</a:t>
            </a:r>
          </a:p>
        </p:txBody>
      </p:sp>
      <p:sp>
        <p:nvSpPr>
          <p:cNvPr id="34" name="Rounded Rectangle 33"/>
          <p:cNvSpPr/>
          <p:nvPr/>
        </p:nvSpPr>
        <p:spPr>
          <a:xfrm>
            <a:off x="548640" y="4846320"/>
            <a:ext cx="2926080" cy="1143000"/>
          </a:xfrm>
          <a:prstGeom prst="roundRect">
            <a:avLst>
              <a:gd name="adj" fmla="val 8000"/>
            </a:avLst>
          </a:prstGeom>
          <a:solidFill>
            <a:srgbClr val="0F76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21792" y="4846320"/>
            <a:ext cx="2779776" cy="1143000"/>
          </a:xfrm>
          <a:prstGeom prst="rect">
            <a:avLst/>
          </a:prstGeom>
          <a:noFill/>
        </p:spPr>
        <p:txBody>
          <a:bodyPr wrap="square" anchor="ctr" lIns="0" rIns="0" tIns="0" bIns="0">
            <a:spAutoFit/>
          </a:bodyPr>
          <a:lstStyle/>
          <a:p>
            <a:pPr algn="ctr">
              <a:spcAft>
                <a:spcPts val="0"/>
              </a:spcAft>
            </a:pPr>
            <a:r>
              <a:rPr sz="1500" b="1" i="0">
                <a:solidFill>
                  <a:srgbClr val="FFFFFF"/>
                </a:solidFill>
                <a:latin typeface="Calibri"/>
              </a:rPr>
              <a:t>vcactl + NI DAQ</a:t>
            </a:r>
          </a:p>
          <a:p>
            <a:pPr algn="ctr">
              <a:spcAft>
                <a:spcPts val="0"/>
              </a:spcAft>
            </a:pPr>
            <a:r>
              <a:rPr sz="1100" b="0" i="0">
                <a:solidFill>
                  <a:srgbClr val="DDEFF0"/>
                </a:solidFill>
                <a:latin typeface="Calibri"/>
              </a:rPr>
              <a:t>USB-6211 / USB-4431 / PXIe-4468</a:t>
            </a:r>
          </a:p>
          <a:p>
            <a:pPr algn="ctr">
              <a:spcAft>
                <a:spcPts val="0"/>
              </a:spcAft>
            </a:pPr>
            <a:r>
              <a:rPr sz="1100" b="0" i="0">
                <a:solidFill>
                  <a:srgbClr val="DDEFF0"/>
                </a:solidFill>
                <a:latin typeface="Calibri"/>
              </a:rPr>
              <a:t>AO0 drive · AI0 control</a:t>
            </a:r>
          </a:p>
        </p:txBody>
      </p:sp>
      <p:sp>
        <p:nvSpPr>
          <p:cNvPr id="36" name="Rounded Rectangle 35"/>
          <p:cNvSpPr/>
          <p:nvPr/>
        </p:nvSpPr>
        <p:spPr>
          <a:xfrm>
            <a:off x="4754880" y="4846320"/>
            <a:ext cx="2743200" cy="114300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828032" y="4846320"/>
            <a:ext cx="2596896" cy="1143000"/>
          </a:xfrm>
          <a:prstGeom prst="rect">
            <a:avLst/>
          </a:prstGeom>
          <a:noFill/>
        </p:spPr>
        <p:txBody>
          <a:bodyPr wrap="square" anchor="ctr" lIns="0" rIns="0" tIns="0" bIns="0">
            <a:spAutoFit/>
          </a:bodyPr>
          <a:lstStyle/>
          <a:p>
            <a:pPr algn="ctr">
              <a:spcAft>
                <a:spcPts val="0"/>
              </a:spcAft>
            </a:pPr>
            <a:r>
              <a:rPr sz="1500" b="1" i="0">
                <a:solidFill>
                  <a:srgbClr val="1B2633"/>
                </a:solidFill>
                <a:latin typeface="Calibri"/>
              </a:rPr>
              <a:t>Power amplifier</a:t>
            </a:r>
          </a:p>
          <a:p>
            <a:pPr algn="ctr">
              <a:spcAft>
                <a:spcPts val="0"/>
              </a:spcAft>
            </a:pPr>
            <a:r>
              <a:rPr sz="1200" b="0" i="0">
                <a:solidFill>
                  <a:srgbClr val="2E3D4F"/>
                </a:solidFill>
                <a:latin typeface="Calibri"/>
              </a:rPr>
              <a:t>BDA 120 / 2718 / 2707</a:t>
            </a:r>
          </a:p>
        </p:txBody>
      </p:sp>
      <p:sp>
        <p:nvSpPr>
          <p:cNvPr id="38" name="Rounded Rectangle 37"/>
          <p:cNvSpPr/>
          <p:nvPr/>
        </p:nvSpPr>
        <p:spPr>
          <a:xfrm>
            <a:off x="8503920" y="4846320"/>
            <a:ext cx="3108960" cy="114300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577072" y="4846320"/>
            <a:ext cx="2962656" cy="1143000"/>
          </a:xfrm>
          <a:prstGeom prst="rect">
            <a:avLst/>
          </a:prstGeom>
          <a:noFill/>
        </p:spPr>
        <p:txBody>
          <a:bodyPr wrap="square" anchor="ctr" lIns="0" rIns="0" tIns="0" bIns="0">
            <a:spAutoFit/>
          </a:bodyPr>
          <a:lstStyle/>
          <a:p>
            <a:pPr algn="ctr">
              <a:spcAft>
                <a:spcPts val="0"/>
              </a:spcAft>
            </a:pPr>
            <a:r>
              <a:rPr sz="1500" b="1" i="0">
                <a:solidFill>
                  <a:srgbClr val="1B2633"/>
                </a:solidFill>
                <a:latin typeface="Calibri"/>
              </a:rPr>
              <a:t>Shaker</a:t>
            </a:r>
          </a:p>
          <a:p>
            <a:pPr algn="ctr">
              <a:spcAft>
                <a:spcPts val="0"/>
              </a:spcAft>
            </a:pPr>
            <a:r>
              <a:rPr sz="1200" b="0" i="0">
                <a:solidFill>
                  <a:srgbClr val="2E3D4F"/>
                </a:solidFill>
                <a:latin typeface="Calibri"/>
              </a:rPr>
              <a:t>TV 51110 / TV 52110</a:t>
            </a:r>
          </a:p>
          <a:p>
            <a:pPr algn="ctr">
              <a:spcAft>
                <a:spcPts val="0"/>
              </a:spcAft>
            </a:pPr>
            <a:r>
              <a:rPr sz="1200" b="0" i="0">
                <a:solidFill>
                  <a:srgbClr val="2E3D4F"/>
                </a:solidFill>
                <a:latin typeface="Calibri"/>
              </a:rPr>
              <a:t>BK 4809 / BK 4801 + 4812</a:t>
            </a:r>
          </a:p>
        </p:txBody>
      </p:sp>
      <p:cxnSp>
        <p:nvCxnSpPr>
          <p:cNvPr id="40" name="Connector 39"/>
          <p:cNvCxnSpPr/>
          <p:nvPr/>
        </p:nvCxnSpPr>
        <p:spPr>
          <a:xfrm>
            <a:off x="3474720" y="5413248"/>
            <a:ext cx="1280160" cy="0"/>
          </a:xfrm>
          <a:prstGeom prst="line">
            <a:avLst/>
          </a:prstGeom>
          <a:ln w="22225">
            <a:solidFill>
              <a:srgbClr val="2E3D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3520440" y="5074920"/>
            <a:ext cx="1188720" cy="274320"/>
          </a:xfrm>
          <a:prstGeom prst="rect">
            <a:avLst/>
          </a:prstGeom>
          <a:noFill/>
        </p:spPr>
        <p:txBody>
          <a:bodyPr wrap="square" anchor="t" lIns="0" rIns="0" tIns="0" bIns="0">
            <a:spAutoFit/>
          </a:bodyPr>
          <a:lstStyle/>
          <a:p>
            <a:pPr algn="ctr">
              <a:spcAft>
                <a:spcPts val="0"/>
              </a:spcAft>
            </a:pPr>
            <a:r>
              <a:rPr sz="1200" b="0" i="0">
                <a:solidFill>
                  <a:srgbClr val="5B6B7C"/>
                </a:solidFill>
                <a:latin typeface="Calibri"/>
              </a:rPr>
              <a:t>drive</a:t>
            </a:r>
          </a:p>
        </p:txBody>
      </p:sp>
      <p:cxnSp>
        <p:nvCxnSpPr>
          <p:cNvPr id="42" name="Connector 41"/>
          <p:cNvCxnSpPr/>
          <p:nvPr/>
        </p:nvCxnSpPr>
        <p:spPr>
          <a:xfrm>
            <a:off x="7498079" y="5413248"/>
            <a:ext cx="1005841" cy="0"/>
          </a:xfrm>
          <a:prstGeom prst="line">
            <a:avLst/>
          </a:prstGeom>
          <a:ln w="22225">
            <a:solidFill>
              <a:srgbClr val="2E3D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498079" y="5074920"/>
            <a:ext cx="1005840" cy="274320"/>
          </a:xfrm>
          <a:prstGeom prst="rect">
            <a:avLst/>
          </a:prstGeom>
          <a:noFill/>
        </p:spPr>
        <p:txBody>
          <a:bodyPr wrap="square" anchor="t" lIns="0" rIns="0" tIns="0" bIns="0">
            <a:spAutoFit/>
          </a:bodyPr>
          <a:lstStyle/>
          <a:p>
            <a:pPr algn="ctr">
              <a:spcAft>
                <a:spcPts val="0"/>
              </a:spcAft>
            </a:pPr>
            <a:r>
              <a:rPr sz="1200" b="0" i="0">
                <a:solidFill>
                  <a:srgbClr val="5B6B7C"/>
                </a:solidFill>
                <a:latin typeface="Calibri"/>
              </a:rPr>
              <a:t>power</a:t>
            </a:r>
          </a:p>
        </p:txBody>
      </p:sp>
      <p:cxnSp>
        <p:nvCxnSpPr>
          <p:cNvPr id="44" name="Connector 43"/>
          <p:cNvCxnSpPr/>
          <p:nvPr/>
        </p:nvCxnSpPr>
        <p:spPr>
          <a:xfrm flipV="1">
            <a:off x="11155680" y="4297680"/>
            <a:ext cx="0" cy="548640"/>
          </a:xfrm>
          <a:prstGeom prst="line">
            <a:avLst/>
          </a:prstGeom>
          <a:ln w="22225">
            <a:solidFill>
              <a:srgbClr val="2E3D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9692640" y="4407408"/>
            <a:ext cx="1417320" cy="274320"/>
          </a:xfrm>
          <a:prstGeom prst="rect">
            <a:avLst/>
          </a:prstGeom>
          <a:noFill/>
        </p:spPr>
        <p:txBody>
          <a:bodyPr wrap="square" anchor="t" lIns="0" rIns="0" tIns="0" bIns="0">
            <a:spAutoFit/>
          </a:bodyPr>
          <a:lstStyle/>
          <a:p>
            <a:pPr algn="r">
              <a:spcAft>
                <a:spcPts val="0"/>
              </a:spcAft>
            </a:pPr>
            <a:r>
              <a:rPr sz="1200" b="0" i="0">
                <a:solidFill>
                  <a:srgbClr val="5B6B7C"/>
                </a:solidFill>
                <a:latin typeface="Calibri"/>
              </a:rPr>
              <a:t>excitation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nchor="b" lIns="0" rIns="0" tIns="0" bIns="0">
            <a:spAutoFit/>
          </a:bodyPr>
          <a:lstStyle/>
          <a:p>
            <a:pPr algn="l">
              <a:spcAft>
                <a:spcPts val="0"/>
              </a:spcAft>
            </a:pPr>
            <a:r>
              <a:rPr sz="3200" b="1" i="0">
                <a:solidFill>
                  <a:srgbClr val="1B2633"/>
                </a:solidFill>
                <a:latin typeface="Cambria"/>
              </a:rPr>
              <a:t>One sharing circuit per DAQ setup</a:t>
            </a:r>
          </a:p>
        </p:txBody>
      </p:sp>
      <p:sp>
        <p:nvSpPr>
          <p:cNvPr id="3" name="TextBox 2"/>
          <p:cNvSpPr txBox="1"/>
          <p:nvPr/>
        </p:nvSpPr>
        <p:spPr>
          <a:xfrm>
            <a:off x="548640" y="1097280"/>
            <a:ext cx="11064240" cy="411480"/>
          </a:xfrm>
          <a:prstGeom prst="rect">
            <a:avLst/>
          </a:prstGeom>
          <a:noFill/>
        </p:spPr>
        <p:txBody>
          <a:bodyPr wrap="square" anchor="t" lIns="0" rIns="0" tIns="0" bIns="0">
            <a:spAutoFit/>
          </a:bodyPr>
          <a:lstStyle/>
          <a:p>
            <a:pPr algn="l">
              <a:spcAft>
                <a:spcPts val="0"/>
              </a:spcAft>
            </a:pPr>
            <a:r>
              <a:rPr sz="1600" b="0" i="0">
                <a:solidFill>
                  <a:srgbClr val="5B6B7C"/>
                </a:solidFill>
                <a:latin typeface="Calibri"/>
              </a:rPr>
              <a:t>The control sensor is always an IEPE accelerometer; all circuits are passive and keep sensitivity_mv_per_g</a:t>
            </a:r>
          </a:p>
        </p:txBody>
      </p:sp>
      <p:sp>
        <p:nvSpPr>
          <p:cNvPr id="4" name="TextBox 3"/>
          <p:cNvSpPr txBox="1"/>
          <p:nvPr/>
        </p:nvSpPr>
        <p:spPr>
          <a:xfrm>
            <a:off x="548640" y="6400800"/>
            <a:ext cx="8229600" cy="274320"/>
          </a:xfrm>
          <a:prstGeom prst="rect">
            <a:avLst/>
          </a:prstGeom>
          <a:noFill/>
        </p:spPr>
        <p:txBody>
          <a:bodyPr wrap="square" anchor="t" lIns="0" rIns="0" tIns="0" bIns="0">
            <a:spAutoFit/>
          </a:bodyPr>
          <a:lstStyle/>
          <a:p>
            <a:pPr algn="l">
              <a:spcAft>
                <a:spcPts val="0"/>
              </a:spcAft>
            </a:pPr>
            <a:r>
              <a:rPr sz="1000" b="0" i="0">
                <a:solidFill>
                  <a:srgbClr val="5B6B7C"/>
                </a:solidFill>
                <a:latin typeface="Calibri"/>
              </a:rPr>
              <a:t>Q2 lidar + vcactl integration</a:t>
            </a:r>
          </a:p>
        </p:txBody>
      </p:sp>
      <p:sp>
        <p:nvSpPr>
          <p:cNvPr id="5" name="TextBox 4"/>
          <p:cNvSpPr txBox="1"/>
          <p:nvPr/>
        </p:nvSpPr>
        <p:spPr>
          <a:xfrm>
            <a:off x="10698480" y="6400800"/>
            <a:ext cx="914400" cy="274320"/>
          </a:xfrm>
          <a:prstGeom prst="rect">
            <a:avLst/>
          </a:prstGeom>
          <a:noFill/>
        </p:spPr>
        <p:txBody>
          <a:bodyPr wrap="square" anchor="t" lIns="0" rIns="0" tIns="0" bIns="0">
            <a:spAutoFit/>
          </a:bodyPr>
          <a:lstStyle/>
          <a:p>
            <a:pPr algn="r">
              <a:spcAft>
                <a:spcPts val="0"/>
              </a:spcAft>
            </a:pPr>
            <a:r>
              <a:rPr sz="1000" b="0" i="0">
                <a:solidFill>
                  <a:srgbClr val="5B6B7C"/>
                </a:solidFill>
                <a:latin typeface="Calibri"/>
              </a:rPr>
              <a:t>6 / 12</a:t>
            </a:r>
          </a:p>
        </p:txBody>
      </p:sp>
      <p:sp>
        <p:nvSpPr>
          <p:cNvPr id="6" name="Rounded Rectangle 5"/>
          <p:cNvSpPr/>
          <p:nvPr/>
        </p:nvSpPr>
        <p:spPr>
          <a:xfrm>
            <a:off x="548640" y="1691640"/>
            <a:ext cx="3474720" cy="452628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74519"/>
            <a:ext cx="457200" cy="457200"/>
          </a:xfrm>
          <a:prstGeom prst="ellipse">
            <a:avLst/>
          </a:prstGeom>
          <a:solidFill>
            <a:srgbClr val="0F76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74519"/>
            <a:ext cx="457200" cy="45720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1</a:t>
            </a:r>
          </a:p>
        </p:txBody>
      </p:sp>
      <p:sp>
        <p:nvSpPr>
          <p:cNvPr id="9" name="TextBox 8"/>
          <p:cNvSpPr txBox="1"/>
          <p:nvPr/>
        </p:nvSpPr>
        <p:spPr>
          <a:xfrm>
            <a:off x="1371600" y="1810512"/>
            <a:ext cx="2560320" cy="640080"/>
          </a:xfrm>
          <a:prstGeom prst="rect">
            <a:avLst/>
          </a:prstGeom>
          <a:noFill/>
        </p:spPr>
        <p:txBody>
          <a:bodyPr wrap="square" anchor="ctr" lIns="0" rIns="0" tIns="0" bIns="0">
            <a:spAutoFit/>
          </a:bodyPr>
          <a:lstStyle/>
          <a:p>
            <a:pPr algn="l">
              <a:spcAft>
                <a:spcPts val="0"/>
              </a:spcAft>
            </a:pPr>
            <a:r>
              <a:rPr sz="1500" b="1" i="0">
                <a:solidFill>
                  <a:srgbClr val="1B2633"/>
                </a:solidFill>
                <a:latin typeface="Calibri"/>
              </a:rPr>
              <a:t>USB-4431 / PXIe-4468 powers IEPE</a:t>
            </a:r>
          </a:p>
        </p:txBody>
      </p:sp>
      <p:sp>
        <p:nvSpPr>
          <p:cNvPr id="10" name="TextBox 9"/>
          <p:cNvSpPr txBox="1"/>
          <p:nvPr/>
        </p:nvSpPr>
        <p:spPr>
          <a:xfrm>
            <a:off x="777240" y="2487168"/>
            <a:ext cx="3017520" cy="502920"/>
          </a:xfrm>
          <a:prstGeom prst="rect">
            <a:avLst/>
          </a:prstGeom>
          <a:noFill/>
        </p:spPr>
        <p:txBody>
          <a:bodyPr wrap="square" anchor="t" lIns="0" rIns="0" tIns="0" bIns="0">
            <a:spAutoFit/>
          </a:bodyPr>
          <a:lstStyle/>
          <a:p>
            <a:pPr algn="l">
              <a:spcAft>
                <a:spcPts val="0"/>
              </a:spcAft>
            </a:pPr>
            <a:r>
              <a:rPr sz="1200" b="0" i="1">
                <a:solidFill>
                  <a:srgbClr val="5B6B7C"/>
                </a:solidFill>
                <a:latin typeface="Calibri"/>
              </a:rPr>
              <a:t>DAQ powers the sensor (Ommatidia's circuit A)</a:t>
            </a:r>
          </a:p>
        </p:txBody>
      </p:sp>
      <p:sp>
        <p:nvSpPr>
          <p:cNvPr id="11" name="TextBox 10"/>
          <p:cNvSpPr txBox="1"/>
          <p:nvPr/>
        </p:nvSpPr>
        <p:spPr>
          <a:xfrm>
            <a:off x="777240" y="3108960"/>
            <a:ext cx="3063240" cy="3063240"/>
          </a:xfrm>
          <a:prstGeom prst="rect">
            <a:avLst/>
          </a:prstGeom>
          <a:noFill/>
        </p:spPr>
        <p:txBody>
          <a:bodyPr wrap="square" anchor="t" lIns="0" rIns="0" tIns="0" bIns="0">
            <a:spAutoFit/>
          </a:bodyPr>
          <a:lstStyle/>
          <a:p>
            <a:pPr algn="l" marL="228600" indent="-228600">
              <a:spcAft>
                <a:spcPts val="800"/>
              </a:spcAft>
              <a:buChar char="•"/>
            </a:pPr>
            <a:r>
              <a:rPr sz="1400" b="0" i="0">
                <a:solidFill>
                  <a:srgbClr val="2E3D4F"/>
                </a:solidFill>
                <a:latin typeface="Calibri"/>
              </a:rPr>
              <a:t>DAQ IEPE on (USB-4431: 2.1 mA, PXIe-4468: 4/10/20 mA), AC coupling</a:t>
            </a:r>
          </a:p>
          <a:p>
            <a:pPr algn="l" marL="228600" indent="-228600">
              <a:spcAft>
                <a:spcPts val="800"/>
              </a:spcAft>
              <a:buChar char="•"/>
            </a:pPr>
            <a:r>
              <a:rPr sz="1400" b="0" i="0">
                <a:solidFill>
                  <a:srgbClr val="2E3D4F"/>
                </a:solidFill>
                <a:latin typeface="Calibri"/>
              </a:rPr>
              <a:t>Tee on the sensor line; DC blocker in the Q2 branch, because the line carries ~8–12 V bias</a:t>
            </a:r>
          </a:p>
          <a:p>
            <a:pPr algn="l" marL="228600" indent="-228600">
              <a:spcAft>
                <a:spcPts val="800"/>
              </a:spcAft>
              <a:buChar char="•"/>
            </a:pPr>
            <a:r>
              <a:rPr sz="1400" b="0" i="0">
                <a:solidFill>
                  <a:srgbClr val="2E3D4F"/>
                </a:solidFill>
                <a:latin typeface="Calibri"/>
              </a:rPr>
              <a:t>Check the sensor works at 2.1 mA on the USB-4431 (VR9700 gives 4 mA)</a:t>
            </a:r>
          </a:p>
        </p:txBody>
      </p:sp>
      <p:sp>
        <p:nvSpPr>
          <p:cNvPr id="12" name="Rounded Rectangle 11"/>
          <p:cNvSpPr/>
          <p:nvPr/>
        </p:nvSpPr>
        <p:spPr>
          <a:xfrm>
            <a:off x="4297679" y="1691640"/>
            <a:ext cx="3474720" cy="452628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26279" y="1874519"/>
            <a:ext cx="457200" cy="4572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26279" y="1874519"/>
            <a:ext cx="457200" cy="45720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2</a:t>
            </a:r>
          </a:p>
        </p:txBody>
      </p:sp>
      <p:sp>
        <p:nvSpPr>
          <p:cNvPr id="15" name="TextBox 14"/>
          <p:cNvSpPr txBox="1"/>
          <p:nvPr/>
        </p:nvSpPr>
        <p:spPr>
          <a:xfrm>
            <a:off x="5120640" y="1810512"/>
            <a:ext cx="2560320" cy="640080"/>
          </a:xfrm>
          <a:prstGeom prst="rect">
            <a:avLst/>
          </a:prstGeom>
          <a:noFill/>
        </p:spPr>
        <p:txBody>
          <a:bodyPr wrap="square" anchor="ctr" lIns="0" rIns="0" tIns="0" bIns="0">
            <a:spAutoFit/>
          </a:bodyPr>
          <a:lstStyle/>
          <a:p>
            <a:pPr algn="l">
              <a:spcAft>
                <a:spcPts val="0"/>
              </a:spcAft>
            </a:pPr>
            <a:r>
              <a:rPr sz="1500" b="1" i="0">
                <a:solidFill>
                  <a:srgbClr val="1B2633"/>
                </a:solidFill>
                <a:latin typeface="Calibri"/>
              </a:rPr>
              <a:t>USB-6211 + IEPE conditioner</a:t>
            </a:r>
          </a:p>
        </p:txBody>
      </p:sp>
      <p:sp>
        <p:nvSpPr>
          <p:cNvPr id="16" name="TextBox 15"/>
          <p:cNvSpPr txBox="1"/>
          <p:nvPr/>
        </p:nvSpPr>
        <p:spPr>
          <a:xfrm>
            <a:off x="4526279" y="2487168"/>
            <a:ext cx="3017520" cy="502920"/>
          </a:xfrm>
          <a:prstGeom prst="rect">
            <a:avLst/>
          </a:prstGeom>
          <a:noFill/>
        </p:spPr>
        <p:txBody>
          <a:bodyPr wrap="square" anchor="t" lIns="0" rIns="0" tIns="0" bIns="0">
            <a:spAutoFit/>
          </a:bodyPr>
          <a:lstStyle/>
          <a:p>
            <a:pPr algn="l">
              <a:spcAft>
                <a:spcPts val="0"/>
              </a:spcAft>
            </a:pPr>
            <a:r>
              <a:rPr sz="1200" b="0" i="1">
                <a:solidFill>
                  <a:srgbClr val="5B6B7C"/>
                </a:solidFill>
                <a:latin typeface="Calibri"/>
              </a:rPr>
              <a:t>Conditioner powers the sensor (Ommatidia's circuit B)</a:t>
            </a:r>
          </a:p>
        </p:txBody>
      </p:sp>
      <p:sp>
        <p:nvSpPr>
          <p:cNvPr id="17" name="TextBox 16"/>
          <p:cNvSpPr txBox="1"/>
          <p:nvPr/>
        </p:nvSpPr>
        <p:spPr>
          <a:xfrm>
            <a:off x="4526279" y="3108960"/>
            <a:ext cx="3063240" cy="3063240"/>
          </a:xfrm>
          <a:prstGeom prst="rect">
            <a:avLst/>
          </a:prstGeom>
          <a:noFill/>
        </p:spPr>
        <p:txBody>
          <a:bodyPr wrap="square" anchor="t" lIns="0" rIns="0" tIns="0" bIns="0">
            <a:spAutoFit/>
          </a:bodyPr>
          <a:lstStyle/>
          <a:p>
            <a:pPr algn="l" marL="228600" indent="-228600">
              <a:spcAft>
                <a:spcPts val="800"/>
              </a:spcAft>
              <a:buChar char="•"/>
            </a:pPr>
            <a:r>
              <a:rPr sz="1400" b="0" i="0">
                <a:solidFill>
                  <a:srgbClr val="2E3D4F"/>
                </a:solidFill>
                <a:latin typeface="Calibri"/>
              </a:rPr>
              <a:t>The USB-6211 has no IEPE excitation: a conditioner (e.g. Pico TA487) powers the sensor</a:t>
            </a:r>
          </a:p>
          <a:p>
            <a:pPr algn="l" marL="228600" indent="-228600">
              <a:spcAft>
                <a:spcPts val="800"/>
              </a:spcAft>
              <a:buChar char="•"/>
            </a:pPr>
            <a:r>
              <a:rPr sz="1400" b="0" i="0">
                <a:solidFill>
                  <a:srgbClr val="2E3D4F"/>
                </a:solidFill>
                <a:latin typeface="Calibri"/>
              </a:rPr>
              <a:t>Tee on the conditioner output: one branch to AI 1/AI 9, one to the Q2</a:t>
            </a:r>
          </a:p>
          <a:p>
            <a:pPr algn="l" marL="228600" indent="-228600">
              <a:spcAft>
                <a:spcPts val="800"/>
              </a:spcAft>
              <a:buChar char="•"/>
            </a:pPr>
            <a:r>
              <a:rPr sz="1400" b="0" i="0">
                <a:solidFill>
                  <a:srgbClr val="2E3D4F"/>
                </a:solidFill>
                <a:latin typeface="Calibri"/>
              </a:rPr>
              <a:t>Floating (battery) conditioner: keep the 10–100 kΩ AI 9 → AI GND resistor</a:t>
            </a:r>
          </a:p>
        </p:txBody>
      </p:sp>
      <p:sp>
        <p:nvSpPr>
          <p:cNvPr id="18" name="Rounded Rectangle 17"/>
          <p:cNvSpPr/>
          <p:nvPr/>
        </p:nvSpPr>
        <p:spPr>
          <a:xfrm>
            <a:off x="8046719" y="1691640"/>
            <a:ext cx="3474720" cy="452628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1874519"/>
            <a:ext cx="457200" cy="457200"/>
          </a:xfrm>
          <a:prstGeom prst="ellipse">
            <a:avLst/>
          </a:prstGeom>
          <a:solidFill>
            <a:srgbClr val="2E3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75319" y="1874519"/>
            <a:ext cx="457200" cy="457200"/>
          </a:xfrm>
          <a:prstGeom prst="rect">
            <a:avLst/>
          </a:prstGeom>
          <a:noFill/>
        </p:spPr>
        <p:txBody>
          <a:bodyPr wrap="square" anchor="ctr" lIns="0" rIns="0" tIns="0" bIns="0">
            <a:spAutoFit/>
          </a:bodyPr>
          <a:lstStyle/>
          <a:p>
            <a:pPr algn="ctr">
              <a:spcAft>
                <a:spcPts val="0"/>
              </a:spcAft>
            </a:pPr>
            <a:r>
              <a:rPr sz="1600" b="1" i="0">
                <a:solidFill>
                  <a:srgbClr val="FFFFFF"/>
                </a:solidFill>
                <a:latin typeface="Calibri"/>
              </a:rPr>
              <a:t>3</a:t>
            </a:r>
          </a:p>
        </p:txBody>
      </p:sp>
      <p:sp>
        <p:nvSpPr>
          <p:cNvPr id="21" name="TextBox 20"/>
          <p:cNvSpPr txBox="1"/>
          <p:nvPr/>
        </p:nvSpPr>
        <p:spPr>
          <a:xfrm>
            <a:off x="8869680" y="1810512"/>
            <a:ext cx="2560320" cy="640080"/>
          </a:xfrm>
          <a:prstGeom prst="rect">
            <a:avLst/>
          </a:prstGeom>
          <a:noFill/>
        </p:spPr>
        <p:txBody>
          <a:bodyPr wrap="square" anchor="ctr" lIns="0" rIns="0" tIns="0" bIns="0">
            <a:spAutoFit/>
          </a:bodyPr>
          <a:lstStyle/>
          <a:p>
            <a:pPr algn="l">
              <a:spcAft>
                <a:spcPts val="0"/>
              </a:spcAft>
            </a:pPr>
            <a:r>
              <a:rPr sz="1500" b="1" i="0">
                <a:solidFill>
                  <a:srgbClr val="1B2633"/>
                </a:solidFill>
                <a:latin typeface="Calibri"/>
              </a:rPr>
              <a:t>USB-4431 / PXIe-4468 + conditioner</a:t>
            </a:r>
          </a:p>
        </p:txBody>
      </p:sp>
      <p:sp>
        <p:nvSpPr>
          <p:cNvPr id="22" name="TextBox 21"/>
          <p:cNvSpPr txBox="1"/>
          <p:nvPr/>
        </p:nvSpPr>
        <p:spPr>
          <a:xfrm>
            <a:off x="8275319" y="2487168"/>
            <a:ext cx="3017520" cy="502920"/>
          </a:xfrm>
          <a:prstGeom prst="rect">
            <a:avLst/>
          </a:prstGeom>
          <a:noFill/>
        </p:spPr>
        <p:txBody>
          <a:bodyPr wrap="square" anchor="t" lIns="0" rIns="0" tIns="0" bIns="0">
            <a:spAutoFit/>
          </a:bodyPr>
          <a:lstStyle/>
          <a:p>
            <a:pPr algn="l">
              <a:spcAft>
                <a:spcPts val="0"/>
              </a:spcAft>
            </a:pPr>
            <a:r>
              <a:rPr sz="1200" b="0" i="1">
                <a:solidFill>
                  <a:srgbClr val="5B6B7C"/>
                </a:solidFill>
                <a:latin typeface="Calibri"/>
              </a:rPr>
              <a:t>Conditioner powers the sensor (Ommatidia's circuit B)</a:t>
            </a:r>
          </a:p>
        </p:txBody>
      </p:sp>
      <p:sp>
        <p:nvSpPr>
          <p:cNvPr id="23" name="TextBox 22"/>
          <p:cNvSpPr txBox="1"/>
          <p:nvPr/>
        </p:nvSpPr>
        <p:spPr>
          <a:xfrm>
            <a:off x="8275319" y="3108960"/>
            <a:ext cx="3063240" cy="3063240"/>
          </a:xfrm>
          <a:prstGeom prst="rect">
            <a:avLst/>
          </a:prstGeom>
          <a:noFill/>
        </p:spPr>
        <p:txBody>
          <a:bodyPr wrap="square" anchor="t" lIns="0" rIns="0" tIns="0" bIns="0">
            <a:spAutoFit/>
          </a:bodyPr>
          <a:lstStyle/>
          <a:p>
            <a:pPr algn="l" marL="228600" indent="-228600">
              <a:spcAft>
                <a:spcPts val="800"/>
              </a:spcAft>
              <a:buChar char="•"/>
            </a:pPr>
            <a:r>
              <a:rPr sz="1400" b="0" i="0">
                <a:solidFill>
                  <a:srgbClr val="2E3D4F"/>
                </a:solidFill>
                <a:latin typeface="Calibri"/>
              </a:rPr>
              <a:t>DAQ IEPE off; the conditioner powers the sensor, tee to both inputs</a:t>
            </a:r>
          </a:p>
          <a:p>
            <a:pPr algn="l" marL="228600" indent="-228600">
              <a:spcAft>
                <a:spcPts val="800"/>
              </a:spcAft>
              <a:buChar char="•"/>
            </a:pPr>
            <a:r>
              <a:rPr sz="1400" b="0" i="0">
                <a:solidFill>
                  <a:srgbClr val="2E3D4F"/>
                </a:solidFill>
                <a:latin typeface="Calibri"/>
              </a:rPr>
              <a:t>No DC blocker needed, because the conditioner output carries no bias</a:t>
            </a:r>
          </a:p>
          <a:p>
            <a:pPr algn="l" marL="228600" indent="-228600">
              <a:spcAft>
                <a:spcPts val="800"/>
              </a:spcAft>
              <a:buChar char="•"/>
            </a:pPr>
            <a:r>
              <a:rPr sz="1400" b="0" i="0">
                <a:solidFill>
                  <a:srgbClr val="2E3D4F"/>
                </a:solidFill>
                <a:latin typeface="Calibri"/>
              </a:rPr>
              <a:t>Use it if the sensor needs more than the USB-4431's 2.1 mA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nchor="b" lIns="0" rIns="0" tIns="0" bIns="0">
            <a:spAutoFit/>
          </a:bodyPr>
          <a:lstStyle/>
          <a:p>
            <a:pPr algn="l">
              <a:spcAft>
                <a:spcPts val="0"/>
              </a:spcAft>
            </a:pPr>
            <a:r>
              <a:rPr sz="3200" b="1" i="0">
                <a:solidFill>
                  <a:srgbClr val="1B2633"/>
                </a:solidFill>
                <a:latin typeface="Cambria"/>
              </a:rPr>
              <a:t>Keep the shared signal inside the Q2's ±2 V</a:t>
            </a:r>
          </a:p>
        </p:txBody>
      </p:sp>
      <p:sp>
        <p:nvSpPr>
          <p:cNvPr id="3" name="TextBox 2"/>
          <p:cNvSpPr txBox="1"/>
          <p:nvPr/>
        </p:nvSpPr>
        <p:spPr>
          <a:xfrm>
            <a:off x="548640" y="1097280"/>
            <a:ext cx="11064240" cy="411480"/>
          </a:xfrm>
          <a:prstGeom prst="rect">
            <a:avLst/>
          </a:prstGeom>
          <a:noFill/>
        </p:spPr>
        <p:txBody>
          <a:bodyPr wrap="square" anchor="t" lIns="0" rIns="0" tIns="0" bIns="0">
            <a:spAutoFit/>
          </a:bodyPr>
          <a:lstStyle/>
          <a:p>
            <a:pPr algn="l">
              <a:spcAft>
                <a:spcPts val="0"/>
              </a:spcAft>
            </a:pPr>
            <a:r>
              <a:rPr sz="1600" b="0" i="0">
                <a:solidFill>
                  <a:srgbClr val="5B6B7C"/>
                </a:solidFill>
                <a:latin typeface="Calibri"/>
              </a:rPr>
              <a:t>Random peaks reach about 4.5 × rms; the sensitivity then sets the highest test level</a:t>
            </a:r>
          </a:p>
        </p:txBody>
      </p:sp>
      <p:sp>
        <p:nvSpPr>
          <p:cNvPr id="4" name="TextBox 3"/>
          <p:cNvSpPr txBox="1"/>
          <p:nvPr/>
        </p:nvSpPr>
        <p:spPr>
          <a:xfrm>
            <a:off x="548640" y="6400800"/>
            <a:ext cx="8229600" cy="274320"/>
          </a:xfrm>
          <a:prstGeom prst="rect">
            <a:avLst/>
          </a:prstGeom>
          <a:noFill/>
        </p:spPr>
        <p:txBody>
          <a:bodyPr wrap="square" anchor="t" lIns="0" rIns="0" tIns="0" bIns="0">
            <a:spAutoFit/>
          </a:bodyPr>
          <a:lstStyle/>
          <a:p>
            <a:pPr algn="l">
              <a:spcAft>
                <a:spcPts val="0"/>
              </a:spcAft>
            </a:pPr>
            <a:r>
              <a:rPr sz="1000" b="0" i="0">
                <a:solidFill>
                  <a:srgbClr val="5B6B7C"/>
                </a:solidFill>
                <a:latin typeface="Calibri"/>
              </a:rPr>
              <a:t>Q2 lidar + vcactl integration</a:t>
            </a:r>
          </a:p>
        </p:txBody>
      </p:sp>
      <p:sp>
        <p:nvSpPr>
          <p:cNvPr id="5" name="TextBox 4"/>
          <p:cNvSpPr txBox="1"/>
          <p:nvPr/>
        </p:nvSpPr>
        <p:spPr>
          <a:xfrm>
            <a:off x="10698480" y="6400800"/>
            <a:ext cx="914400" cy="274320"/>
          </a:xfrm>
          <a:prstGeom prst="rect">
            <a:avLst/>
          </a:prstGeom>
          <a:noFill/>
        </p:spPr>
        <p:txBody>
          <a:bodyPr wrap="square" anchor="t" lIns="0" rIns="0" tIns="0" bIns="0">
            <a:spAutoFit/>
          </a:bodyPr>
          <a:lstStyle/>
          <a:p>
            <a:pPr algn="r">
              <a:spcAft>
                <a:spcPts val="0"/>
              </a:spcAft>
            </a:pPr>
            <a:r>
              <a:rPr sz="1000" b="0" i="0">
                <a:solidFill>
                  <a:srgbClr val="5B6B7C"/>
                </a:solidFill>
                <a:latin typeface="Calibri"/>
              </a:rPr>
              <a:t>7 / 12</a:t>
            </a:r>
          </a:p>
        </p:txBody>
      </p:sp>
      <p:graphicFrame>
        <p:nvGraphicFramePr>
          <p:cNvPr id="6" name="Table 5"/>
          <p:cNvGraphicFramePr>
            <a:graphicFrameLocks noGrp="1"/>
          </p:cNvGraphicFramePr>
          <p:nvPr/>
        </p:nvGraphicFramePr>
        <p:xfrm>
          <a:off x="548640" y="1783080"/>
          <a:ext cx="11064240" cy="1371600"/>
        </p:xfrm>
        <a:graphic>
          <a:graphicData uri="http://schemas.openxmlformats.org/drawingml/2006/table">
            <a:tbl>
              <a:tblPr firstRow="0" bandRow="0">
                <a:tableStyleId>{2D5ABB26-0587-4C30-8999-92F81FD0307C}</a:tableStyleId>
              </a:tblPr>
              <a:tblGrid>
                <a:gridCol w="2560320"/>
                <a:gridCol w="1325880"/>
                <a:gridCol w="1325880"/>
                <a:gridCol w="1325880"/>
                <a:gridCol w="1325880"/>
                <a:gridCol w="1600200"/>
                <a:gridCol w="1600200"/>
              </a:tblGrid>
              <a:tr h="685800">
                <a:tc>
                  <a:txBody>
                    <a:bodyPr wrap="square"/>
                    <a:lstStyle/>
                    <a:p>
                      <a:pPr algn="l"/>
                      <a:r>
                        <a:rPr sz="1500" b="1">
                          <a:solidFill>
                            <a:srgbClr val="FFFFFF"/>
                          </a:solidFill>
                          <a:latin typeface="Calibri"/>
                        </a:rPr>
                        <a:t>Control level (rms)</a:t>
                      </a:r>
                    </a:p>
                  </a:txBody>
                  <a:tcPr marL="73152" marR="73152" marT="36576" marB="36576" anchor="ctr">
                    <a:solidFill>
                      <a:srgbClr val="2E3D4F"/>
                    </a:solidFill>
                  </a:tcPr>
                </a:tc>
                <a:tc>
                  <a:txBody>
                    <a:bodyPr wrap="square"/>
                    <a:lstStyle/>
                    <a:p>
                      <a:pPr algn="l"/>
                      <a:r>
                        <a:rPr sz="1500" b="1">
                          <a:solidFill>
                            <a:srgbClr val="FFFFFF"/>
                          </a:solidFill>
                          <a:latin typeface="Calibri"/>
                        </a:rPr>
                        <a:t>5 g</a:t>
                      </a:r>
                    </a:p>
                  </a:txBody>
                  <a:tcPr marL="73152" marR="73152" marT="36576" marB="36576" anchor="ctr">
                    <a:solidFill>
                      <a:srgbClr val="2E3D4F"/>
                    </a:solidFill>
                  </a:tcPr>
                </a:tc>
                <a:tc>
                  <a:txBody>
                    <a:bodyPr wrap="square"/>
                    <a:lstStyle/>
                    <a:p>
                      <a:pPr algn="l"/>
                      <a:r>
                        <a:rPr sz="1500" b="1">
                          <a:solidFill>
                            <a:srgbClr val="FFFFFF"/>
                          </a:solidFill>
                          <a:latin typeface="Calibri"/>
                        </a:rPr>
                        <a:t>10 g</a:t>
                      </a:r>
                    </a:p>
                  </a:txBody>
                  <a:tcPr marL="73152" marR="73152" marT="36576" marB="36576" anchor="ctr">
                    <a:solidFill>
                      <a:srgbClr val="2E3D4F"/>
                    </a:solidFill>
                  </a:tcPr>
                </a:tc>
                <a:tc>
                  <a:txBody>
                    <a:bodyPr wrap="square"/>
                    <a:lstStyle/>
                    <a:p>
                      <a:pPr algn="l"/>
                      <a:r>
                        <a:rPr sz="1500" b="1">
                          <a:solidFill>
                            <a:srgbClr val="FFFFFF"/>
                          </a:solidFill>
                          <a:latin typeface="Calibri"/>
                        </a:rPr>
                        <a:t>20 g</a:t>
                      </a:r>
                    </a:p>
                  </a:txBody>
                  <a:tcPr marL="73152" marR="73152" marT="36576" marB="36576" anchor="ctr">
                    <a:solidFill>
                      <a:srgbClr val="2E3D4F"/>
                    </a:solidFill>
                  </a:tcPr>
                </a:tc>
                <a:tc>
                  <a:txBody>
                    <a:bodyPr wrap="square"/>
                    <a:lstStyle/>
                    <a:p>
                      <a:pPr algn="l"/>
                      <a:r>
                        <a:rPr sz="1500" b="1">
                          <a:solidFill>
                            <a:srgbClr val="FFFFFF"/>
                          </a:solidFill>
                          <a:latin typeface="Calibri"/>
                        </a:rPr>
                        <a:t>30 g</a:t>
                      </a:r>
                    </a:p>
                  </a:txBody>
                  <a:tcPr marL="73152" marR="73152" marT="36576" marB="36576" anchor="ctr">
                    <a:solidFill>
                      <a:srgbClr val="2E3D4F"/>
                    </a:solidFill>
                  </a:tcPr>
                </a:tc>
                <a:tc>
                  <a:txBody>
                    <a:bodyPr wrap="square"/>
                    <a:lstStyle/>
                    <a:p>
                      <a:pPr algn="l"/>
                      <a:r>
                        <a:rPr sz="1500" b="1">
                          <a:solidFill>
                            <a:srgbClr val="FFFFFF"/>
                          </a:solidFill>
                          <a:latin typeface="Calibri"/>
                        </a:rPr>
                        <a:t>53 g</a:t>
                      </a:r>
                    </a:p>
                    <a:p>
                      <a:pPr algn="l"/>
                      <a:r>
                        <a:rPr sz="1500" b="1">
                          <a:solidFill>
                            <a:srgbClr val="FFFFFF"/>
                          </a:solidFill>
                          <a:latin typeface="Calibri"/>
                        </a:rPr>
                        <a:t>(BK 4809 max)</a:t>
                      </a:r>
                    </a:p>
                  </a:txBody>
                  <a:tcPr marL="73152" marR="73152" marT="36576" marB="36576" anchor="ctr">
                    <a:solidFill>
                      <a:srgbClr val="2E3D4F"/>
                    </a:solidFill>
                  </a:tcPr>
                </a:tc>
                <a:tc>
                  <a:txBody>
                    <a:bodyPr wrap="square"/>
                    <a:lstStyle/>
                    <a:p>
                      <a:pPr algn="l"/>
                      <a:r>
                        <a:rPr sz="1500" b="1">
                          <a:solidFill>
                            <a:srgbClr val="FFFFFF"/>
                          </a:solidFill>
                          <a:latin typeface="Calibri"/>
                        </a:rPr>
                        <a:t>70 g</a:t>
                      </a:r>
                    </a:p>
                    <a:p>
                      <a:pPr algn="l"/>
                      <a:r>
                        <a:rPr sz="1500" b="1">
                          <a:solidFill>
                            <a:srgbClr val="FFFFFF"/>
                          </a:solidFill>
                          <a:latin typeface="Calibri"/>
                        </a:rPr>
                        <a:t>(BK 4801 max)</a:t>
                      </a:r>
                    </a:p>
                  </a:txBody>
                  <a:tcPr marL="73152" marR="73152" marT="36576" marB="36576" anchor="ctr">
                    <a:solidFill>
                      <a:srgbClr val="2E3D4F"/>
                    </a:solidFill>
                  </a:tcPr>
                </a:tc>
              </a:tr>
              <a:tr h="685800">
                <a:tc>
                  <a:txBody>
                    <a:bodyPr wrap="square"/>
                    <a:lstStyle/>
                    <a:p>
                      <a:pPr algn="l"/>
                      <a:r>
                        <a:rPr sz="1500" b="0">
                          <a:solidFill>
                            <a:srgbClr val="1B2633"/>
                          </a:solidFill>
                          <a:latin typeface="Calibri"/>
                        </a:rPr>
                        <a:t>Max. sensitivity for ±2 V</a:t>
                      </a:r>
                    </a:p>
                  </a:txBody>
                  <a:tcPr marL="73152" marR="73152" marT="36576" marB="36576" anchor="ctr">
                    <a:solidFill>
                      <a:srgbClr val="FFFFFF"/>
                    </a:solidFill>
                  </a:tcPr>
                </a:tc>
                <a:tc>
                  <a:txBody>
                    <a:bodyPr wrap="square"/>
                    <a:lstStyle/>
                    <a:p>
                      <a:pPr algn="l"/>
                      <a:r>
                        <a:rPr sz="1500" b="0">
                          <a:solidFill>
                            <a:srgbClr val="1B2633"/>
                          </a:solidFill>
                          <a:latin typeface="Calibri"/>
                        </a:rPr>
                        <a:t>89 mV/g</a:t>
                      </a:r>
                    </a:p>
                  </a:txBody>
                  <a:tcPr marL="73152" marR="73152" marT="36576" marB="36576" anchor="ctr">
                    <a:solidFill>
                      <a:srgbClr val="FFFFFF"/>
                    </a:solidFill>
                  </a:tcPr>
                </a:tc>
                <a:tc>
                  <a:txBody>
                    <a:bodyPr wrap="square"/>
                    <a:lstStyle/>
                    <a:p>
                      <a:pPr algn="l"/>
                      <a:r>
                        <a:rPr sz="1500" b="0">
                          <a:solidFill>
                            <a:srgbClr val="1B2633"/>
                          </a:solidFill>
                          <a:latin typeface="Calibri"/>
                        </a:rPr>
                        <a:t>44 mV/g</a:t>
                      </a:r>
                    </a:p>
                  </a:txBody>
                  <a:tcPr marL="73152" marR="73152" marT="36576" marB="36576" anchor="ctr">
                    <a:solidFill>
                      <a:srgbClr val="FFFFFF"/>
                    </a:solidFill>
                  </a:tcPr>
                </a:tc>
                <a:tc>
                  <a:txBody>
                    <a:bodyPr wrap="square"/>
                    <a:lstStyle/>
                    <a:p>
                      <a:pPr algn="l"/>
                      <a:r>
                        <a:rPr sz="1500" b="0">
                          <a:solidFill>
                            <a:srgbClr val="1B2633"/>
                          </a:solidFill>
                          <a:latin typeface="Calibri"/>
                        </a:rPr>
                        <a:t>22 mV/g</a:t>
                      </a:r>
                    </a:p>
                  </a:txBody>
                  <a:tcPr marL="73152" marR="73152" marT="36576" marB="36576" anchor="ctr">
                    <a:solidFill>
                      <a:srgbClr val="FFFFFF"/>
                    </a:solidFill>
                  </a:tcPr>
                </a:tc>
                <a:tc>
                  <a:txBody>
                    <a:bodyPr wrap="square"/>
                    <a:lstStyle/>
                    <a:p>
                      <a:pPr algn="l"/>
                      <a:r>
                        <a:rPr sz="1500" b="0">
                          <a:solidFill>
                            <a:srgbClr val="1B2633"/>
                          </a:solidFill>
                          <a:latin typeface="Calibri"/>
                        </a:rPr>
                        <a:t>15 mV/g</a:t>
                      </a:r>
                    </a:p>
                  </a:txBody>
                  <a:tcPr marL="73152" marR="73152" marT="36576" marB="36576" anchor="ctr">
                    <a:solidFill>
                      <a:srgbClr val="FFFFFF"/>
                    </a:solidFill>
                  </a:tcPr>
                </a:tc>
                <a:tc>
                  <a:txBody>
                    <a:bodyPr wrap="square"/>
                    <a:lstStyle/>
                    <a:p>
                      <a:pPr algn="l"/>
                      <a:r>
                        <a:rPr sz="1500" b="0">
                          <a:solidFill>
                            <a:srgbClr val="1B2633"/>
                          </a:solidFill>
                          <a:latin typeface="Calibri"/>
                        </a:rPr>
                        <a:t>8 mV/g</a:t>
                      </a:r>
                    </a:p>
                  </a:txBody>
                  <a:tcPr marL="73152" marR="73152" marT="36576" marB="36576" anchor="ctr">
                    <a:solidFill>
                      <a:srgbClr val="FFFFFF"/>
                    </a:solidFill>
                  </a:tcPr>
                </a:tc>
                <a:tc>
                  <a:txBody>
                    <a:bodyPr wrap="square"/>
                    <a:lstStyle/>
                    <a:p>
                      <a:pPr algn="l"/>
                      <a:r>
                        <a:rPr sz="1500" b="0">
                          <a:solidFill>
                            <a:srgbClr val="1B2633"/>
                          </a:solidFill>
                          <a:latin typeface="Calibri"/>
                        </a:rPr>
                        <a:t>6 mV/g</a:t>
                      </a:r>
                    </a:p>
                  </a:txBody>
                  <a:tcPr marL="73152" marR="73152" marT="36576" marB="36576" anchor="ctr">
                    <a:solidFill>
                      <a:srgbClr val="FFFFFF"/>
                    </a:solidFill>
                  </a:tcPr>
                </a:tc>
              </a:tr>
            </a:tbl>
          </a:graphicData>
        </a:graphic>
      </p:graphicFrame>
      <p:sp>
        <p:nvSpPr>
          <p:cNvPr id="7" name="Rounded Rectangle 6"/>
          <p:cNvSpPr/>
          <p:nvPr/>
        </p:nvSpPr>
        <p:spPr>
          <a:xfrm>
            <a:off x="548640" y="3520440"/>
            <a:ext cx="5440680" cy="141732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22959" y="3611880"/>
            <a:ext cx="2468880" cy="1234440"/>
          </a:xfrm>
          <a:prstGeom prst="rect">
            <a:avLst/>
          </a:prstGeom>
          <a:noFill/>
        </p:spPr>
        <p:txBody>
          <a:bodyPr wrap="square" anchor="ctr" lIns="0" rIns="0" tIns="0" bIns="0">
            <a:spAutoFit/>
          </a:bodyPr>
          <a:lstStyle/>
          <a:p>
            <a:pPr algn="l">
              <a:spcAft>
                <a:spcPts val="0"/>
              </a:spcAft>
            </a:pPr>
            <a:r>
              <a:rPr sz="3000" b="1" i="0">
                <a:solidFill>
                  <a:srgbClr val="0F767E"/>
                </a:solidFill>
                <a:latin typeface="Cambria"/>
              </a:rPr>
              <a:t>10 mV/g</a:t>
            </a:r>
          </a:p>
        </p:txBody>
      </p:sp>
      <p:sp>
        <p:nvSpPr>
          <p:cNvPr id="9" name="TextBox 8"/>
          <p:cNvSpPr txBox="1"/>
          <p:nvPr/>
        </p:nvSpPr>
        <p:spPr>
          <a:xfrm>
            <a:off x="3383280" y="3611880"/>
            <a:ext cx="2423160" cy="1234440"/>
          </a:xfrm>
          <a:prstGeom prst="rect">
            <a:avLst/>
          </a:prstGeom>
          <a:noFill/>
        </p:spPr>
        <p:txBody>
          <a:bodyPr wrap="square" anchor="ctr" lIns="0" rIns="0" tIns="0" bIns="0">
            <a:spAutoFit/>
          </a:bodyPr>
          <a:lstStyle/>
          <a:p>
            <a:pPr algn="l">
              <a:spcAft>
                <a:spcPts val="0"/>
              </a:spcAft>
            </a:pPr>
            <a:r>
              <a:rPr sz="1400" b="0" i="0">
                <a:solidFill>
                  <a:srgbClr val="2E3D4F"/>
                </a:solidFill>
                <a:latin typeface="Calibri"/>
              </a:rPr>
              <a:t>IEPE sensor: fine up to 44 g rms, which covers the TIRA ratings</a:t>
            </a:r>
          </a:p>
        </p:txBody>
      </p:sp>
      <p:sp>
        <p:nvSpPr>
          <p:cNvPr id="10" name="Rounded Rectangle 9"/>
          <p:cNvSpPr/>
          <p:nvPr/>
        </p:nvSpPr>
        <p:spPr>
          <a:xfrm>
            <a:off x="6172200" y="3520440"/>
            <a:ext cx="5440680" cy="141732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46520" y="3611880"/>
            <a:ext cx="2468880" cy="1234440"/>
          </a:xfrm>
          <a:prstGeom prst="rect">
            <a:avLst/>
          </a:prstGeom>
          <a:noFill/>
        </p:spPr>
        <p:txBody>
          <a:bodyPr wrap="square" anchor="ctr" lIns="0" rIns="0" tIns="0" bIns="0">
            <a:spAutoFit/>
          </a:bodyPr>
          <a:lstStyle/>
          <a:p>
            <a:pPr algn="l">
              <a:spcAft>
                <a:spcPts val="0"/>
              </a:spcAft>
            </a:pPr>
            <a:r>
              <a:rPr sz="3000" b="1" i="0">
                <a:solidFill>
                  <a:srgbClr val="D93A2B"/>
                </a:solidFill>
                <a:latin typeface="Cambria"/>
              </a:rPr>
              <a:t>100 mV/g</a:t>
            </a:r>
          </a:p>
        </p:txBody>
      </p:sp>
      <p:sp>
        <p:nvSpPr>
          <p:cNvPr id="12" name="TextBox 11"/>
          <p:cNvSpPr txBox="1"/>
          <p:nvPr/>
        </p:nvSpPr>
        <p:spPr>
          <a:xfrm>
            <a:off x="9006840" y="3611880"/>
            <a:ext cx="2423160" cy="1234440"/>
          </a:xfrm>
          <a:prstGeom prst="rect">
            <a:avLst/>
          </a:prstGeom>
          <a:noFill/>
        </p:spPr>
        <p:txBody>
          <a:bodyPr wrap="square" anchor="ctr" lIns="0" rIns="0" tIns="0" bIns="0">
            <a:spAutoFit/>
          </a:bodyPr>
          <a:lstStyle/>
          <a:p>
            <a:pPr algn="l">
              <a:spcAft>
                <a:spcPts val="0"/>
              </a:spcAft>
            </a:pPr>
            <a:r>
              <a:rPr sz="1400" b="0" i="0">
                <a:solidFill>
                  <a:srgbClr val="2E3D4F"/>
                </a:solidFill>
                <a:latin typeface="Calibri"/>
              </a:rPr>
              <a:t>IEPE sensor: clips the Q2 input above about 4 g rms</a:t>
            </a:r>
          </a:p>
        </p:txBody>
      </p:sp>
      <p:sp>
        <p:nvSpPr>
          <p:cNvPr id="13" name="TextBox 12"/>
          <p:cNvSpPr txBox="1"/>
          <p:nvPr/>
        </p:nvSpPr>
        <p:spPr>
          <a:xfrm>
            <a:off x="548640" y="5166360"/>
            <a:ext cx="11064240" cy="1097280"/>
          </a:xfrm>
          <a:prstGeom prst="rect">
            <a:avLst/>
          </a:prstGeom>
          <a:noFill/>
        </p:spPr>
        <p:txBody>
          <a:bodyPr wrap="square" anchor="t" lIns="0" rIns="0" tIns="0" bIns="0">
            <a:spAutoFit/>
          </a:bodyPr>
          <a:lstStyle/>
          <a:p>
            <a:pPr algn="l" marL="228600" indent="-228600">
              <a:spcAft>
                <a:spcPts val="800"/>
              </a:spcAft>
              <a:buChar char="•"/>
            </a:pPr>
            <a:r>
              <a:rPr sz="1400" b="0" i="0">
                <a:solidFill>
                  <a:srgbClr val="1B2633"/>
                </a:solidFill>
                <a:latin typeface="Calibri"/>
              </a:rPr>
              <a:t>The control sensor is always IEPE: pick its sensitivity for the highest test level (10 mV/g for most tests).</a:t>
            </a:r>
          </a:p>
          <a:p>
            <a:pPr algn="l" marL="228600" indent="-228600">
              <a:spcAft>
                <a:spcPts val="800"/>
              </a:spcAft>
              <a:buChar char="•"/>
            </a:pPr>
            <a:r>
              <a:rPr sz="1400" b="0" i="0">
                <a:solidFill>
                  <a:srgbClr val="1B2633"/>
                </a:solidFill>
                <a:latin typeface="Calibri"/>
              </a:rPr>
              <a:t>Or put a 1:N attenuator in the Q2 branch only, and give the Q2 the reduced sensitivity.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nchor="b" lIns="0" rIns="0" tIns="0" bIns="0">
            <a:spAutoFit/>
          </a:bodyPr>
          <a:lstStyle/>
          <a:p>
            <a:pPr algn="l">
              <a:spcAft>
                <a:spcPts val="0"/>
              </a:spcAft>
            </a:pPr>
            <a:r>
              <a:rPr sz="3200" b="1" i="0">
                <a:solidFill>
                  <a:srgbClr val="1B2633"/>
                </a:solidFill>
                <a:latin typeface="Cambria"/>
              </a:rPr>
              <a:t>Which shaker: the specimen decides</a:t>
            </a:r>
          </a:p>
        </p:txBody>
      </p:sp>
      <p:sp>
        <p:nvSpPr>
          <p:cNvPr id="3" name="TextBox 2"/>
          <p:cNvSpPr txBox="1"/>
          <p:nvPr/>
        </p:nvSpPr>
        <p:spPr>
          <a:xfrm>
            <a:off x="548640" y="1097280"/>
            <a:ext cx="11064240" cy="411480"/>
          </a:xfrm>
          <a:prstGeom prst="rect">
            <a:avLst/>
          </a:prstGeom>
          <a:noFill/>
        </p:spPr>
        <p:txBody>
          <a:bodyPr wrap="square" anchor="t" lIns="0" rIns="0" tIns="0" bIns="0">
            <a:spAutoFit/>
          </a:bodyPr>
          <a:lstStyle/>
          <a:p>
            <a:pPr algn="l">
              <a:spcAft>
                <a:spcPts val="0"/>
              </a:spcAft>
            </a:pPr>
            <a:r>
              <a:rPr sz="1600" b="0" i="0">
                <a:solidFill>
                  <a:srgbClr val="5B6B7C"/>
                </a:solidFill>
                <a:latin typeface="Calibri"/>
              </a:rPr>
              <a:t>The Q2 adds no mass, so the payload is fixture + specimen + control accelerometer</a:t>
            </a:r>
          </a:p>
        </p:txBody>
      </p:sp>
      <p:sp>
        <p:nvSpPr>
          <p:cNvPr id="4" name="TextBox 3"/>
          <p:cNvSpPr txBox="1"/>
          <p:nvPr/>
        </p:nvSpPr>
        <p:spPr>
          <a:xfrm>
            <a:off x="548640" y="6400800"/>
            <a:ext cx="8229600" cy="274320"/>
          </a:xfrm>
          <a:prstGeom prst="rect">
            <a:avLst/>
          </a:prstGeom>
          <a:noFill/>
        </p:spPr>
        <p:txBody>
          <a:bodyPr wrap="square" anchor="t" lIns="0" rIns="0" tIns="0" bIns="0">
            <a:spAutoFit/>
          </a:bodyPr>
          <a:lstStyle/>
          <a:p>
            <a:pPr algn="l">
              <a:spcAft>
                <a:spcPts val="0"/>
              </a:spcAft>
            </a:pPr>
            <a:r>
              <a:rPr sz="1000" b="0" i="0">
                <a:solidFill>
                  <a:srgbClr val="5B6B7C"/>
                </a:solidFill>
                <a:latin typeface="Calibri"/>
              </a:rPr>
              <a:t>Q2 lidar + vcactl integration</a:t>
            </a:r>
          </a:p>
        </p:txBody>
      </p:sp>
      <p:sp>
        <p:nvSpPr>
          <p:cNvPr id="5" name="TextBox 4"/>
          <p:cNvSpPr txBox="1"/>
          <p:nvPr/>
        </p:nvSpPr>
        <p:spPr>
          <a:xfrm>
            <a:off x="10698480" y="6400800"/>
            <a:ext cx="914400" cy="274320"/>
          </a:xfrm>
          <a:prstGeom prst="rect">
            <a:avLst/>
          </a:prstGeom>
          <a:noFill/>
        </p:spPr>
        <p:txBody>
          <a:bodyPr wrap="square" anchor="t" lIns="0" rIns="0" tIns="0" bIns="0">
            <a:spAutoFit/>
          </a:bodyPr>
          <a:lstStyle/>
          <a:p>
            <a:pPr algn="r">
              <a:spcAft>
                <a:spcPts val="0"/>
              </a:spcAft>
            </a:pPr>
            <a:r>
              <a:rPr sz="1000" b="0" i="0">
                <a:solidFill>
                  <a:srgbClr val="5B6B7C"/>
                </a:solidFill>
                <a:latin typeface="Calibri"/>
              </a:rPr>
              <a:t>8 / 12</a:t>
            </a:r>
          </a:p>
        </p:txBody>
      </p:sp>
      <p:graphicFrame>
        <p:nvGraphicFramePr>
          <p:cNvPr id="6" name="Table 5"/>
          <p:cNvGraphicFramePr>
            <a:graphicFrameLocks noGrp="1"/>
          </p:cNvGraphicFramePr>
          <p:nvPr/>
        </p:nvGraphicFramePr>
        <p:xfrm>
          <a:off x="548640" y="1691640"/>
          <a:ext cx="11064240" cy="3291840"/>
        </p:xfrm>
        <a:graphic>
          <a:graphicData uri="http://schemas.openxmlformats.org/drawingml/2006/table">
            <a:tbl>
              <a:tblPr firstRow="0" bandRow="0">
                <a:tableStyleId>{2D5ABB26-0587-4C30-8999-92F81FD0307C}</a:tableStyleId>
              </a:tblPr>
              <a:tblGrid>
                <a:gridCol w="2514600"/>
                <a:gridCol w="1325880"/>
                <a:gridCol w="1143000"/>
                <a:gridCol w="1371600"/>
                <a:gridCol w="1463040"/>
                <a:gridCol w="3246120"/>
              </a:tblGrid>
              <a:tr h="658368">
                <a:tc>
                  <a:txBody>
                    <a:bodyPr wrap="square"/>
                    <a:lstStyle/>
                    <a:p>
                      <a:pPr algn="l"/>
                      <a:r>
                        <a:rPr sz="1300" b="1">
                          <a:solidFill>
                            <a:srgbClr val="FFFFFF"/>
                          </a:solidFill>
                          <a:latin typeface="Calibri"/>
                        </a:rPr>
                        <a:t>Shaker + amplifier</a:t>
                      </a:r>
                    </a:p>
                  </a:txBody>
                  <a:tcPr marL="73152" marR="73152" marT="36576" marB="36576" anchor="ctr">
                    <a:solidFill>
                      <a:srgbClr val="2E3D4F"/>
                    </a:solidFill>
                  </a:tcPr>
                </a:tc>
                <a:tc>
                  <a:txBody>
                    <a:bodyPr wrap="square"/>
                    <a:lstStyle/>
                    <a:p>
                      <a:pPr algn="l"/>
                      <a:r>
                        <a:rPr sz="1300" b="1">
                          <a:solidFill>
                            <a:srgbClr val="FFFFFF"/>
                          </a:solidFill>
                          <a:latin typeface="Calibri"/>
                        </a:rPr>
                        <a:t>Random force</a:t>
                      </a:r>
                    </a:p>
                  </a:txBody>
                  <a:tcPr marL="73152" marR="73152" marT="36576" marB="36576" anchor="ctr">
                    <a:solidFill>
                      <a:srgbClr val="2E3D4F"/>
                    </a:solidFill>
                  </a:tcPr>
                </a:tc>
                <a:tc>
                  <a:txBody>
                    <a:bodyPr wrap="square"/>
                    <a:lstStyle/>
                    <a:p>
                      <a:pPr algn="l"/>
                      <a:r>
                        <a:rPr sz="1300" b="1">
                          <a:solidFill>
                            <a:srgbClr val="FFFFFF"/>
                          </a:solidFill>
                          <a:latin typeface="Calibri"/>
                        </a:rPr>
                        <a:t>Stroke p-p</a:t>
                      </a:r>
                    </a:p>
                  </a:txBody>
                  <a:tcPr marL="73152" marR="73152" marT="36576" marB="36576" anchor="ctr">
                    <a:solidFill>
                      <a:srgbClr val="2E3D4F"/>
                    </a:solidFill>
                  </a:tcPr>
                </a:tc>
                <a:tc>
                  <a:txBody>
                    <a:bodyPr wrap="square"/>
                    <a:lstStyle/>
                    <a:p>
                      <a:pPr algn="l"/>
                      <a:r>
                        <a:rPr sz="1300" b="1">
                          <a:solidFill>
                            <a:srgbClr val="FFFFFF"/>
                          </a:solidFill>
                          <a:latin typeface="Calibri"/>
                        </a:rPr>
                        <a:t>Static payload</a:t>
                      </a:r>
                    </a:p>
                  </a:txBody>
                  <a:tcPr marL="73152" marR="73152" marT="36576" marB="36576" anchor="ctr">
                    <a:solidFill>
                      <a:srgbClr val="2E3D4F"/>
                    </a:solidFill>
                  </a:tcPr>
                </a:tc>
                <a:tc>
                  <a:txBody>
                    <a:bodyPr wrap="square"/>
                    <a:lstStyle/>
                    <a:p>
                      <a:pPr algn="l"/>
                      <a:r>
                        <a:rPr sz="1300" b="1">
                          <a:solidFill>
                            <a:srgbClr val="FFFFFF"/>
                          </a:solidFill>
                          <a:latin typeface="Calibri"/>
                        </a:rPr>
                        <a:t>Range</a:t>
                      </a:r>
                    </a:p>
                  </a:txBody>
                  <a:tcPr marL="73152" marR="73152" marT="36576" marB="36576" anchor="ctr">
                    <a:solidFill>
                      <a:srgbClr val="2E3D4F"/>
                    </a:solidFill>
                  </a:tcPr>
                </a:tc>
                <a:tc>
                  <a:txBody>
                    <a:bodyPr wrap="square"/>
                    <a:lstStyle/>
                    <a:p>
                      <a:pPr algn="l"/>
                      <a:r>
                        <a:rPr sz="1300" b="1">
                          <a:solidFill>
                            <a:srgbClr val="FFFFFF"/>
                          </a:solidFill>
                          <a:latin typeface="Calibri"/>
                        </a:rPr>
                        <a:t>Use with the Q2 for</a:t>
                      </a:r>
                    </a:p>
                  </a:txBody>
                  <a:tcPr marL="73152" marR="73152" marT="36576" marB="36576" anchor="ctr">
                    <a:solidFill>
                      <a:srgbClr val="2E3D4F"/>
                    </a:solidFill>
                  </a:tcPr>
                </a:tc>
              </a:tr>
              <a:tr h="658368">
                <a:tc>
                  <a:txBody>
                    <a:bodyPr wrap="square"/>
                    <a:lstStyle/>
                    <a:p>
                      <a:pPr algn="l"/>
                      <a:r>
                        <a:rPr sz="1300" b="1">
                          <a:solidFill>
                            <a:srgbClr val="1B2633"/>
                          </a:solidFill>
                          <a:latin typeface="Calibri"/>
                        </a:rPr>
                        <a:t>TIRA TV 51110 + BDA 120</a:t>
                      </a:r>
                    </a:p>
                  </a:txBody>
                  <a:tcPr marL="73152" marR="73152" marT="36576" marB="36576" anchor="ctr">
                    <a:solidFill>
                      <a:srgbClr val="DDEFF0"/>
                    </a:solidFill>
                  </a:tcPr>
                </a:tc>
                <a:tc>
                  <a:txBody>
                    <a:bodyPr wrap="square"/>
                    <a:lstStyle/>
                    <a:p>
                      <a:pPr algn="l"/>
                      <a:r>
                        <a:rPr sz="1300" b="0">
                          <a:solidFill>
                            <a:srgbClr val="1B2633"/>
                          </a:solidFill>
                          <a:latin typeface="Calibri"/>
                        </a:rPr>
                        <a:t>70 N rms</a:t>
                      </a:r>
                    </a:p>
                  </a:txBody>
                  <a:tcPr marL="73152" marR="73152" marT="36576" marB="36576" anchor="ctr">
                    <a:solidFill>
                      <a:srgbClr val="DDEFF0"/>
                    </a:solidFill>
                  </a:tcPr>
                </a:tc>
                <a:tc>
                  <a:txBody>
                    <a:bodyPr wrap="square"/>
                    <a:lstStyle/>
                    <a:p>
                      <a:pPr algn="l"/>
                      <a:r>
                        <a:rPr sz="1300" b="0">
                          <a:solidFill>
                            <a:srgbClr val="1B2633"/>
                          </a:solidFill>
                          <a:latin typeface="Calibri"/>
                        </a:rPr>
                        <a:t>13 mm</a:t>
                      </a:r>
                    </a:p>
                  </a:txBody>
                  <a:tcPr marL="73152" marR="73152" marT="36576" marB="36576" anchor="ctr">
                    <a:solidFill>
                      <a:srgbClr val="DDEFF0"/>
                    </a:solidFill>
                  </a:tcPr>
                </a:tc>
                <a:tc>
                  <a:txBody>
                    <a:bodyPr wrap="square"/>
                    <a:lstStyle/>
                    <a:p>
                      <a:pPr algn="l"/>
                      <a:r>
                        <a:rPr sz="1300" b="0">
                          <a:solidFill>
                            <a:srgbClr val="1B2633"/>
                          </a:solidFill>
                          <a:latin typeface="Calibri"/>
                        </a:rPr>
                        <a:t>5.3 kg</a:t>
                      </a:r>
                    </a:p>
                  </a:txBody>
                  <a:tcPr marL="73152" marR="73152" marT="36576" marB="36576" anchor="ctr">
                    <a:solidFill>
                      <a:srgbClr val="DDEFF0"/>
                    </a:solidFill>
                  </a:tcPr>
                </a:tc>
                <a:tc>
                  <a:txBody>
                    <a:bodyPr wrap="square"/>
                    <a:lstStyle/>
                    <a:p>
                      <a:pPr algn="l"/>
                      <a:r>
                        <a:rPr sz="1300" b="0">
                          <a:solidFill>
                            <a:srgbClr val="1B2633"/>
                          </a:solidFill>
                          <a:latin typeface="Calibri"/>
                        </a:rPr>
                        <a:t>2 Hz – 7 kHz</a:t>
                      </a:r>
                    </a:p>
                  </a:txBody>
                  <a:tcPr marL="73152" marR="73152" marT="36576" marB="36576" anchor="ctr">
                    <a:solidFill>
                      <a:srgbClr val="DDEFF0"/>
                    </a:solidFill>
                  </a:tcPr>
                </a:tc>
                <a:tc>
                  <a:txBody>
                    <a:bodyPr wrap="square"/>
                    <a:lstStyle/>
                    <a:p>
                      <a:pPr algn="l"/>
                      <a:r>
                        <a:rPr sz="1300" b="1">
                          <a:solidFill>
                            <a:srgbClr val="0F767E"/>
                          </a:solidFill>
                          <a:latin typeface="Calibri"/>
                        </a:rPr>
                        <a:t>Default. Matches Ommatidia's drawings; good stroke for low-frequency displacement</a:t>
                      </a:r>
                    </a:p>
                  </a:txBody>
                  <a:tcPr marL="73152" marR="73152" marT="36576" marB="36576" anchor="ctr">
                    <a:solidFill>
                      <a:srgbClr val="DDEFF0"/>
                    </a:solidFill>
                  </a:tcPr>
                </a:tc>
              </a:tr>
              <a:tr h="658368">
                <a:tc>
                  <a:txBody>
                    <a:bodyPr wrap="square"/>
                    <a:lstStyle/>
                    <a:p>
                      <a:pPr algn="l"/>
                      <a:r>
                        <a:rPr sz="1300" b="0">
                          <a:solidFill>
                            <a:srgbClr val="1B2633"/>
                          </a:solidFill>
                          <a:latin typeface="Calibri"/>
                        </a:rPr>
                        <a:t>TIRA TV 52110 + BDA 120</a:t>
                      </a:r>
                    </a:p>
                  </a:txBody>
                  <a:tcPr marL="73152" marR="73152" marT="36576" marB="36576" anchor="ctr">
                    <a:solidFill>
                      <a:srgbClr val="EEF2F5"/>
                    </a:solidFill>
                  </a:tcPr>
                </a:tc>
                <a:tc>
                  <a:txBody>
                    <a:bodyPr wrap="square"/>
                    <a:lstStyle/>
                    <a:p>
                      <a:pPr algn="l"/>
                      <a:r>
                        <a:rPr sz="1300" b="0">
                          <a:solidFill>
                            <a:srgbClr val="1B2633"/>
                          </a:solidFill>
                          <a:latin typeface="Calibri"/>
                        </a:rPr>
                        <a:t>50 N rms</a:t>
                      </a:r>
                    </a:p>
                  </a:txBody>
                  <a:tcPr marL="73152" marR="73152" marT="36576" marB="36576" anchor="ctr">
                    <a:solidFill>
                      <a:srgbClr val="EEF2F5"/>
                    </a:solidFill>
                  </a:tcPr>
                </a:tc>
                <a:tc>
                  <a:txBody>
                    <a:bodyPr wrap="square"/>
                    <a:lstStyle/>
                    <a:p>
                      <a:pPr algn="l"/>
                      <a:r>
                        <a:rPr sz="1300" b="0">
                          <a:solidFill>
                            <a:srgbClr val="1B2633"/>
                          </a:solidFill>
                          <a:latin typeface="Calibri"/>
                        </a:rPr>
                        <a:t>15 mm</a:t>
                      </a:r>
                    </a:p>
                  </a:txBody>
                  <a:tcPr marL="73152" marR="73152" marT="36576" marB="36576" anchor="ctr">
                    <a:solidFill>
                      <a:srgbClr val="EEF2F5"/>
                    </a:solidFill>
                  </a:tcPr>
                </a:tc>
                <a:tc>
                  <a:txBody>
                    <a:bodyPr wrap="square"/>
                    <a:lstStyle/>
                    <a:p>
                      <a:pPr algn="l"/>
                      <a:r>
                        <a:rPr sz="1300" b="0">
                          <a:solidFill>
                            <a:srgbClr val="1B2633"/>
                          </a:solidFill>
                          <a:latin typeface="Calibri"/>
                        </a:rPr>
                        <a:t>10 kg</a:t>
                      </a:r>
                    </a:p>
                  </a:txBody>
                  <a:tcPr marL="73152" marR="73152" marT="36576" marB="36576" anchor="ctr">
                    <a:solidFill>
                      <a:srgbClr val="EEF2F5"/>
                    </a:solidFill>
                  </a:tcPr>
                </a:tc>
                <a:tc>
                  <a:txBody>
                    <a:bodyPr wrap="square"/>
                    <a:lstStyle/>
                    <a:p>
                      <a:pPr algn="l"/>
                      <a:r>
                        <a:rPr sz="1300" b="0">
                          <a:solidFill>
                            <a:srgbClr val="1B2633"/>
                          </a:solidFill>
                          <a:latin typeface="Calibri"/>
                        </a:rPr>
                        <a:t>2 Hz – 7 kHz</a:t>
                      </a:r>
                    </a:p>
                  </a:txBody>
                  <a:tcPr marL="73152" marR="73152" marT="36576" marB="36576" anchor="ctr">
                    <a:solidFill>
                      <a:srgbClr val="EEF2F5"/>
                    </a:solidFill>
                  </a:tcPr>
                </a:tc>
                <a:tc>
                  <a:txBody>
                    <a:bodyPr wrap="square"/>
                    <a:lstStyle/>
                    <a:p>
                      <a:pPr algn="l"/>
                      <a:r>
                        <a:rPr sz="1300" b="0">
                          <a:solidFill>
                            <a:srgbClr val="1B2633"/>
                          </a:solidFill>
                          <a:latin typeface="Calibri"/>
                        </a:rPr>
                        <a:t>Larger stroke; lower random force than the 51110</a:t>
                      </a:r>
                    </a:p>
                  </a:txBody>
                  <a:tcPr marL="73152" marR="73152" marT="36576" marB="36576" anchor="ctr">
                    <a:solidFill>
                      <a:srgbClr val="EEF2F5"/>
                    </a:solidFill>
                  </a:tcPr>
                </a:tc>
              </a:tr>
              <a:tr h="658368">
                <a:tc>
                  <a:txBody>
                    <a:bodyPr wrap="square"/>
                    <a:lstStyle/>
                    <a:p>
                      <a:pPr algn="l"/>
                      <a:r>
                        <a:rPr sz="1300" b="0">
                          <a:solidFill>
                            <a:srgbClr val="1B2633"/>
                          </a:solidFill>
                          <a:latin typeface="Calibri"/>
                        </a:rPr>
                        <a:t>BK 4809 + 2718</a:t>
                      </a:r>
                    </a:p>
                  </a:txBody>
                  <a:tcPr marL="73152" marR="73152" marT="36576" marB="36576" anchor="ctr">
                    <a:solidFill>
                      <a:srgbClr val="FFFFFF"/>
                    </a:solidFill>
                  </a:tcPr>
                </a:tc>
                <a:tc>
                  <a:txBody>
                    <a:bodyPr wrap="square"/>
                    <a:lstStyle/>
                    <a:p>
                      <a:pPr algn="l"/>
                      <a:r>
                        <a:rPr sz="1300" b="0">
                          <a:solidFill>
                            <a:srgbClr val="1B2633"/>
                          </a:solidFill>
                          <a:latin typeface="Calibri"/>
                        </a:rPr>
                        <a:t>31.5 N rms*</a:t>
                      </a:r>
                    </a:p>
                  </a:txBody>
                  <a:tcPr marL="73152" marR="73152" marT="36576" marB="36576" anchor="ctr">
                    <a:solidFill>
                      <a:srgbClr val="FFFFFF"/>
                    </a:solidFill>
                  </a:tcPr>
                </a:tc>
                <a:tc>
                  <a:txBody>
                    <a:bodyPr wrap="square"/>
                    <a:lstStyle/>
                    <a:p>
                      <a:pPr algn="l"/>
                      <a:r>
                        <a:rPr sz="1300" b="0">
                          <a:solidFill>
                            <a:srgbClr val="1B2633"/>
                          </a:solidFill>
                          <a:latin typeface="Calibri"/>
                        </a:rPr>
                        <a:t>8 mm</a:t>
                      </a:r>
                    </a:p>
                  </a:txBody>
                  <a:tcPr marL="73152" marR="73152" marT="36576" marB="36576" anchor="ctr">
                    <a:solidFill>
                      <a:srgbClr val="FFFFFF"/>
                    </a:solidFill>
                  </a:tcPr>
                </a:tc>
                <a:tc>
                  <a:txBody>
                    <a:bodyPr wrap="square"/>
                    <a:lstStyle/>
                    <a:p>
                      <a:pPr algn="l"/>
                      <a:r>
                        <a:rPr sz="1300" b="0">
                          <a:solidFill>
                            <a:srgbClr val="1B2633"/>
                          </a:solidFill>
                          <a:latin typeface="Calibri"/>
                        </a:rPr>
                        <a:t>4.9 kg</a:t>
                      </a:r>
                    </a:p>
                  </a:txBody>
                  <a:tcPr marL="73152" marR="73152" marT="36576" marB="36576" anchor="ctr">
                    <a:solidFill>
                      <a:srgbClr val="FFFFFF"/>
                    </a:solidFill>
                  </a:tcPr>
                </a:tc>
                <a:tc>
                  <a:txBody>
                    <a:bodyPr wrap="square"/>
                    <a:lstStyle/>
                    <a:p>
                      <a:pPr algn="l"/>
                      <a:r>
                        <a:rPr sz="1300" b="0">
                          <a:solidFill>
                            <a:srgbClr val="1B2633"/>
                          </a:solidFill>
                          <a:latin typeface="Calibri"/>
                        </a:rPr>
                        <a:t>10 Hz – 20 kHz</a:t>
                      </a:r>
                    </a:p>
                  </a:txBody>
                  <a:tcPr marL="73152" marR="73152" marT="36576" marB="36576" anchor="ctr">
                    <a:solidFill>
                      <a:srgbClr val="FFFFFF"/>
                    </a:solidFill>
                  </a:tcPr>
                </a:tc>
                <a:tc>
                  <a:txBody>
                    <a:bodyPr wrap="square"/>
                    <a:lstStyle/>
                    <a:p>
                      <a:pPr algn="l"/>
                      <a:r>
                        <a:rPr sz="1300" b="0">
                          <a:solidFill>
                            <a:srgbClr val="1B2633"/>
                          </a:solidFill>
                          <a:latin typeface="Calibri"/>
                        </a:rPr>
                        <a:t>Small, light specimens; small table, so fewer Q2 points fit</a:t>
                      </a:r>
                    </a:p>
                  </a:txBody>
                  <a:tcPr marL="73152" marR="73152" marT="36576" marB="36576" anchor="ctr">
                    <a:solidFill>
                      <a:srgbClr val="FFFFFF"/>
                    </a:solidFill>
                  </a:tcPr>
                </a:tc>
              </a:tr>
              <a:tr h="658368">
                <a:tc>
                  <a:txBody>
                    <a:bodyPr wrap="square"/>
                    <a:lstStyle/>
                    <a:p>
                      <a:pPr algn="l"/>
                      <a:r>
                        <a:rPr sz="1300" b="0">
                          <a:solidFill>
                            <a:srgbClr val="1B2633"/>
                          </a:solidFill>
                          <a:latin typeface="Calibri"/>
                        </a:rPr>
                        <a:t>BK 4801/4812 + 2707</a:t>
                      </a:r>
                    </a:p>
                  </a:txBody>
                  <a:tcPr marL="73152" marR="73152" marT="36576" marB="36576" anchor="ctr">
                    <a:solidFill>
                      <a:srgbClr val="EEF2F5"/>
                    </a:solidFill>
                  </a:tcPr>
                </a:tc>
                <a:tc>
                  <a:txBody>
                    <a:bodyPr wrap="square"/>
                    <a:lstStyle/>
                    <a:p>
                      <a:pPr algn="l"/>
                      <a:r>
                        <a:rPr sz="1300" b="0">
                          <a:solidFill>
                            <a:srgbClr val="1B2633"/>
                          </a:solidFill>
                          <a:latin typeface="Calibri"/>
                        </a:rPr>
                        <a:t>315 N rms*</a:t>
                      </a:r>
                    </a:p>
                  </a:txBody>
                  <a:tcPr marL="73152" marR="73152" marT="36576" marB="36576" anchor="ctr">
                    <a:solidFill>
                      <a:srgbClr val="EEF2F5"/>
                    </a:solidFill>
                  </a:tcPr>
                </a:tc>
                <a:tc>
                  <a:txBody>
                    <a:bodyPr wrap="square"/>
                    <a:lstStyle/>
                    <a:p>
                      <a:pPr algn="l"/>
                      <a:r>
                        <a:rPr sz="1300" b="0">
                          <a:solidFill>
                            <a:srgbClr val="1B2633"/>
                          </a:solidFill>
                          <a:latin typeface="Calibri"/>
                        </a:rPr>
                        <a:t>12.7 mm</a:t>
                      </a:r>
                    </a:p>
                  </a:txBody>
                  <a:tcPr marL="73152" marR="73152" marT="36576" marB="36576" anchor="ctr">
                    <a:solidFill>
                      <a:srgbClr val="EEF2F5"/>
                    </a:solidFill>
                  </a:tcPr>
                </a:tc>
                <a:tc>
                  <a:txBody>
                    <a:bodyPr wrap="square"/>
                    <a:lstStyle/>
                    <a:p>
                      <a:pPr algn="l"/>
                      <a:r>
                        <a:rPr sz="1300" b="0">
                          <a:solidFill>
                            <a:srgbClr val="1B2633"/>
                          </a:solidFill>
                          <a:latin typeface="Calibri"/>
                        </a:rPr>
                        <a:t>13.5 kg</a:t>
                      </a:r>
                    </a:p>
                  </a:txBody>
                  <a:tcPr marL="73152" marR="73152" marT="36576" marB="36576" anchor="ctr">
                    <a:solidFill>
                      <a:srgbClr val="EEF2F5"/>
                    </a:solidFill>
                  </a:tcPr>
                </a:tc>
                <a:tc>
                  <a:txBody>
                    <a:bodyPr wrap="square"/>
                    <a:lstStyle/>
                    <a:p>
                      <a:pPr algn="l"/>
                      <a:r>
                        <a:rPr sz="1300" b="0">
                          <a:solidFill>
                            <a:srgbClr val="1B2633"/>
                          </a:solidFill>
                          <a:latin typeface="Calibri"/>
                        </a:rPr>
                        <a:t>5 Hz – 10 kHz</a:t>
                      </a:r>
                    </a:p>
                  </a:txBody>
                  <a:tcPr marL="73152" marR="73152" marT="36576" marB="36576" anchor="ctr">
                    <a:solidFill>
                      <a:srgbClr val="EEF2F5"/>
                    </a:solidFill>
                  </a:tcPr>
                </a:tc>
                <a:tc>
                  <a:txBody>
                    <a:bodyPr wrap="square"/>
                    <a:lstStyle/>
                    <a:p>
                      <a:pPr algn="l"/>
                      <a:r>
                        <a:rPr sz="1300" b="0">
                          <a:solidFill>
                            <a:srgbClr val="1B2633"/>
                          </a:solidFill>
                          <a:latin typeface="Calibri"/>
                        </a:rPr>
                        <a:t>Heavier specimens or larger fixtures for many Q2 points</a:t>
                      </a:r>
                    </a:p>
                  </a:txBody>
                  <a:tcPr marL="73152" marR="73152" marT="36576" marB="36576" anchor="ctr">
                    <a:solidFill>
                      <a:srgbClr val="EEF2F5"/>
                    </a:solidFill>
                  </a:tcPr>
                </a:tc>
              </a:tr>
            </a:tbl>
          </a:graphicData>
        </a:graphic>
      </p:graphicFrame>
      <p:sp>
        <p:nvSpPr>
          <p:cNvPr id="7" name="TextBox 6"/>
          <p:cNvSpPr txBox="1"/>
          <p:nvPr/>
        </p:nvSpPr>
        <p:spPr>
          <a:xfrm>
            <a:off x="548640" y="5074920"/>
            <a:ext cx="11064240" cy="320040"/>
          </a:xfrm>
          <a:prstGeom prst="rect">
            <a:avLst/>
          </a:prstGeom>
          <a:noFill/>
        </p:spPr>
        <p:txBody>
          <a:bodyPr wrap="square" anchor="t" lIns="0" rIns="0" tIns="0" bIns="0">
            <a:spAutoFit/>
          </a:bodyPr>
          <a:lstStyle/>
          <a:p>
            <a:pPr algn="l">
              <a:spcAft>
                <a:spcPts val="0"/>
              </a:spcAft>
            </a:pPr>
            <a:r>
              <a:rPr sz="1200" b="0" i="0">
                <a:solidFill>
                  <a:srgbClr val="5B6B7C"/>
                </a:solidFill>
                <a:latin typeface="Calibri"/>
              </a:rPr>
              <a:t>* derived from the sine rating (sine peak / √2); the BK datasheets give no random rating. Control band of vcactl: up to 7 kHz for all.</a:t>
            </a:r>
          </a:p>
        </p:txBody>
      </p:sp>
      <p:sp>
        <p:nvSpPr>
          <p:cNvPr id="8" name="TextBox 7"/>
          <p:cNvSpPr txBox="1"/>
          <p:nvPr/>
        </p:nvSpPr>
        <p:spPr>
          <a:xfrm>
            <a:off x="548640" y="5440680"/>
            <a:ext cx="11064240" cy="914400"/>
          </a:xfrm>
          <a:prstGeom prst="rect">
            <a:avLst/>
          </a:prstGeom>
          <a:noFill/>
        </p:spPr>
        <p:txBody>
          <a:bodyPr wrap="square" anchor="t" lIns="0" rIns="0" tIns="0" bIns="0">
            <a:spAutoFit/>
          </a:bodyPr>
          <a:lstStyle/>
          <a:p>
            <a:pPr algn="l" marL="228600" indent="-228600">
              <a:spcAft>
                <a:spcPts val="800"/>
              </a:spcAft>
              <a:buChar char="•"/>
            </a:pPr>
            <a:r>
              <a:rPr sz="1400" b="0" i="0">
                <a:solidFill>
                  <a:srgbClr val="1B2633"/>
                </a:solidFill>
                <a:latin typeface="Calibri"/>
              </a:rPr>
              <a:t>The Q2 needs a clear line of sight to every point: plan the fixture, cables and accelerometer position around the beams.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nchor="b" lIns="0" rIns="0" tIns="0" bIns="0">
            <a:spAutoFit/>
          </a:bodyPr>
          <a:lstStyle/>
          <a:p>
            <a:pPr algn="l">
              <a:spcAft>
                <a:spcPts val="0"/>
              </a:spcAft>
            </a:pPr>
            <a:r>
              <a:rPr sz="3200" b="1" i="0">
                <a:solidFill>
                  <a:srgbClr val="1B2633"/>
                </a:solidFill>
                <a:latin typeface="Cambria"/>
              </a:rPr>
              <a:t>µm at low frequency, nm at high frequency</a:t>
            </a:r>
          </a:p>
        </p:txBody>
      </p:sp>
      <p:sp>
        <p:nvSpPr>
          <p:cNvPr id="3" name="TextBox 2"/>
          <p:cNvSpPr txBox="1"/>
          <p:nvPr/>
        </p:nvSpPr>
        <p:spPr>
          <a:xfrm>
            <a:off x="548640" y="1097280"/>
            <a:ext cx="11064240" cy="411480"/>
          </a:xfrm>
          <a:prstGeom prst="rect">
            <a:avLst/>
          </a:prstGeom>
          <a:noFill/>
        </p:spPr>
        <p:txBody>
          <a:bodyPr wrap="square" anchor="t" lIns="0" rIns="0" tIns="0" bIns="0">
            <a:spAutoFit/>
          </a:bodyPr>
          <a:lstStyle/>
          <a:p>
            <a:pPr algn="l">
              <a:spcAft>
                <a:spcPts val="0"/>
              </a:spcAft>
            </a:pPr>
            <a:r>
              <a:rPr sz="1600" b="0" i="0">
                <a:solidFill>
                  <a:srgbClr val="5B6B7C"/>
                </a:solidFill>
                <a:latin typeface="Calibri"/>
              </a:rPr>
              <a:t>What the Q2 has to resolve: base displacement density of flat random profiles, in nm/√Hz</a:t>
            </a:r>
          </a:p>
        </p:txBody>
      </p:sp>
      <p:sp>
        <p:nvSpPr>
          <p:cNvPr id="4" name="TextBox 3"/>
          <p:cNvSpPr txBox="1"/>
          <p:nvPr/>
        </p:nvSpPr>
        <p:spPr>
          <a:xfrm>
            <a:off x="548640" y="6400800"/>
            <a:ext cx="8229600" cy="274320"/>
          </a:xfrm>
          <a:prstGeom prst="rect">
            <a:avLst/>
          </a:prstGeom>
          <a:noFill/>
        </p:spPr>
        <p:txBody>
          <a:bodyPr wrap="square" anchor="t" lIns="0" rIns="0" tIns="0" bIns="0">
            <a:spAutoFit/>
          </a:bodyPr>
          <a:lstStyle/>
          <a:p>
            <a:pPr algn="l">
              <a:spcAft>
                <a:spcPts val="0"/>
              </a:spcAft>
            </a:pPr>
            <a:r>
              <a:rPr sz="1000" b="0" i="0">
                <a:solidFill>
                  <a:srgbClr val="5B6B7C"/>
                </a:solidFill>
                <a:latin typeface="Calibri"/>
              </a:rPr>
              <a:t>Q2 lidar + vcactl integration</a:t>
            </a:r>
          </a:p>
        </p:txBody>
      </p:sp>
      <p:sp>
        <p:nvSpPr>
          <p:cNvPr id="5" name="TextBox 4"/>
          <p:cNvSpPr txBox="1"/>
          <p:nvPr/>
        </p:nvSpPr>
        <p:spPr>
          <a:xfrm>
            <a:off x="10698480" y="6400800"/>
            <a:ext cx="914400" cy="274320"/>
          </a:xfrm>
          <a:prstGeom prst="rect">
            <a:avLst/>
          </a:prstGeom>
          <a:noFill/>
        </p:spPr>
        <p:txBody>
          <a:bodyPr wrap="square" anchor="t" lIns="0" rIns="0" tIns="0" bIns="0">
            <a:spAutoFit/>
          </a:bodyPr>
          <a:lstStyle/>
          <a:p>
            <a:pPr algn="r">
              <a:spcAft>
                <a:spcPts val="0"/>
              </a:spcAft>
            </a:pPr>
            <a:r>
              <a:rPr sz="1000" b="0" i="0">
                <a:solidFill>
                  <a:srgbClr val="5B6B7C"/>
                </a:solidFill>
                <a:latin typeface="Calibri"/>
              </a:rPr>
              <a:t>9 / 12</a:t>
            </a:r>
          </a:p>
        </p:txBody>
      </p:sp>
      <p:graphicFrame>
        <p:nvGraphicFramePr>
          <p:cNvPr id="6" name="Table 5"/>
          <p:cNvGraphicFramePr>
            <a:graphicFrameLocks noGrp="1"/>
          </p:cNvGraphicFramePr>
          <p:nvPr/>
        </p:nvGraphicFramePr>
        <p:xfrm>
          <a:off x="548640" y="1783080"/>
          <a:ext cx="7406817" cy="2194560"/>
        </p:xfrm>
        <a:graphic>
          <a:graphicData uri="http://schemas.openxmlformats.org/drawingml/2006/table">
            <a:tbl>
              <a:tblPr firstRow="0" bandRow="0">
                <a:tableStyleId>{2D5ABB26-0587-4C30-8999-92F81FD0307C}</a:tableStyleId>
              </a:tblPr>
              <a:tblGrid>
                <a:gridCol w="1463040"/>
                <a:gridCol w="849111"/>
                <a:gridCol w="849111"/>
                <a:gridCol w="849111"/>
                <a:gridCol w="849111"/>
                <a:gridCol w="849111"/>
                <a:gridCol w="849111"/>
                <a:gridCol w="849111"/>
              </a:tblGrid>
              <a:tr h="548640">
                <a:tc>
                  <a:txBody>
                    <a:bodyPr wrap="square"/>
                    <a:lstStyle/>
                    <a:p>
                      <a:pPr algn="l"/>
                      <a:r>
                        <a:rPr sz="1300" b="1">
                          <a:solidFill>
                            <a:srgbClr val="FFFFFF"/>
                          </a:solidFill>
                          <a:latin typeface="Calibri"/>
                        </a:rPr>
                        <a:t>Profile</a:t>
                      </a:r>
                    </a:p>
                  </a:txBody>
                  <a:tcPr marL="73152" marR="73152" marT="36576" marB="36576" anchor="ctr">
                    <a:solidFill>
                      <a:srgbClr val="2E3D4F"/>
                    </a:solidFill>
                  </a:tcPr>
                </a:tc>
                <a:tc>
                  <a:txBody>
                    <a:bodyPr wrap="square"/>
                    <a:lstStyle/>
                    <a:p>
                      <a:pPr algn="l"/>
                      <a:r>
                        <a:rPr sz="1300" b="1">
                          <a:solidFill>
                            <a:srgbClr val="FFFFFF"/>
                          </a:solidFill>
                          <a:latin typeface="Calibri"/>
                        </a:rPr>
                        <a:t>20 Hz</a:t>
                      </a:r>
                    </a:p>
                  </a:txBody>
                  <a:tcPr marL="73152" marR="73152" marT="36576" marB="36576" anchor="ctr">
                    <a:solidFill>
                      <a:srgbClr val="2E3D4F"/>
                    </a:solidFill>
                  </a:tcPr>
                </a:tc>
                <a:tc>
                  <a:txBody>
                    <a:bodyPr wrap="square"/>
                    <a:lstStyle/>
                    <a:p>
                      <a:pPr algn="l"/>
                      <a:r>
                        <a:rPr sz="1300" b="1">
                          <a:solidFill>
                            <a:srgbClr val="FFFFFF"/>
                          </a:solidFill>
                          <a:latin typeface="Calibri"/>
                        </a:rPr>
                        <a:t>100 Hz</a:t>
                      </a:r>
                    </a:p>
                  </a:txBody>
                  <a:tcPr marL="73152" marR="73152" marT="36576" marB="36576" anchor="ctr">
                    <a:solidFill>
                      <a:srgbClr val="2E3D4F"/>
                    </a:solidFill>
                  </a:tcPr>
                </a:tc>
                <a:tc>
                  <a:txBody>
                    <a:bodyPr wrap="square"/>
                    <a:lstStyle/>
                    <a:p>
                      <a:pPr algn="l"/>
                      <a:r>
                        <a:rPr sz="1300" b="1">
                          <a:solidFill>
                            <a:srgbClr val="FFFFFF"/>
                          </a:solidFill>
                          <a:latin typeface="Calibri"/>
                        </a:rPr>
                        <a:t>500 Hz</a:t>
                      </a:r>
                    </a:p>
                  </a:txBody>
                  <a:tcPr marL="73152" marR="73152" marT="36576" marB="36576" anchor="ctr">
                    <a:solidFill>
                      <a:srgbClr val="2E3D4F"/>
                    </a:solidFill>
                  </a:tcPr>
                </a:tc>
                <a:tc>
                  <a:txBody>
                    <a:bodyPr wrap="square"/>
                    <a:lstStyle/>
                    <a:p>
                      <a:pPr algn="l"/>
                      <a:r>
                        <a:rPr sz="1300" b="1">
                          <a:solidFill>
                            <a:srgbClr val="FFFFFF"/>
                          </a:solidFill>
                          <a:latin typeface="Calibri"/>
                        </a:rPr>
                        <a:t>1 kHz</a:t>
                      </a:r>
                    </a:p>
                  </a:txBody>
                  <a:tcPr marL="73152" marR="73152" marT="36576" marB="36576" anchor="ctr">
                    <a:solidFill>
                      <a:srgbClr val="2E3D4F"/>
                    </a:solidFill>
                  </a:tcPr>
                </a:tc>
                <a:tc>
                  <a:txBody>
                    <a:bodyPr wrap="square"/>
                    <a:lstStyle/>
                    <a:p>
                      <a:pPr algn="l"/>
                      <a:r>
                        <a:rPr sz="1300" b="1">
                          <a:solidFill>
                            <a:srgbClr val="FFFFFF"/>
                          </a:solidFill>
                          <a:latin typeface="Calibri"/>
                        </a:rPr>
                        <a:t>2 kHz</a:t>
                      </a:r>
                    </a:p>
                  </a:txBody>
                  <a:tcPr marL="73152" marR="73152" marT="36576" marB="36576" anchor="ctr">
                    <a:solidFill>
                      <a:srgbClr val="2E3D4F"/>
                    </a:solidFill>
                  </a:tcPr>
                </a:tc>
                <a:tc>
                  <a:txBody>
                    <a:bodyPr wrap="square"/>
                    <a:lstStyle/>
                    <a:p>
                      <a:pPr algn="l"/>
                      <a:r>
                        <a:rPr sz="1300" b="1">
                          <a:solidFill>
                            <a:srgbClr val="FFFFFF"/>
                          </a:solidFill>
                          <a:latin typeface="Calibri"/>
                        </a:rPr>
                        <a:t>5 kHz</a:t>
                      </a:r>
                    </a:p>
                  </a:txBody>
                  <a:tcPr marL="73152" marR="73152" marT="36576" marB="36576" anchor="ctr">
                    <a:solidFill>
                      <a:srgbClr val="2E3D4F"/>
                    </a:solidFill>
                  </a:tcPr>
                </a:tc>
                <a:tc>
                  <a:txBody>
                    <a:bodyPr wrap="square"/>
                    <a:lstStyle/>
                    <a:p>
                      <a:pPr algn="l"/>
                      <a:r>
                        <a:rPr sz="1300" b="1">
                          <a:solidFill>
                            <a:srgbClr val="FFFFFF"/>
                          </a:solidFill>
                          <a:latin typeface="Calibri"/>
                        </a:rPr>
                        <a:t>7 kHz</a:t>
                      </a:r>
                    </a:p>
                  </a:txBody>
                  <a:tcPr marL="73152" marR="73152" marT="36576" marB="36576" anchor="ctr">
                    <a:solidFill>
                      <a:srgbClr val="2E3D4F"/>
                    </a:solidFill>
                  </a:tcPr>
                </a:tc>
              </a:tr>
              <a:tr h="548640">
                <a:tc>
                  <a:txBody>
                    <a:bodyPr wrap="square"/>
                    <a:lstStyle/>
                    <a:p>
                      <a:pPr algn="l"/>
                      <a:r>
                        <a:rPr sz="1300" b="0">
                          <a:solidFill>
                            <a:srgbClr val="1B2633"/>
                          </a:solidFill>
                          <a:latin typeface="Calibri"/>
                        </a:rPr>
                        <a:t>0.001 g²/Hz</a:t>
                      </a:r>
                    </a:p>
                  </a:txBody>
                  <a:tcPr marL="73152" marR="73152" marT="36576" marB="36576" anchor="ctr">
                    <a:solidFill>
                      <a:srgbClr val="FFFFFF"/>
                    </a:solidFill>
                  </a:tcPr>
                </a:tc>
                <a:tc>
                  <a:txBody>
                    <a:bodyPr wrap="square"/>
                    <a:lstStyle/>
                    <a:p>
                      <a:pPr algn="r"/>
                      <a:r>
                        <a:rPr sz="1300" b="0">
                          <a:solidFill>
                            <a:srgbClr val="1B2633"/>
                          </a:solidFill>
                          <a:latin typeface="Calibri"/>
                        </a:rPr>
                        <a:t>20 k</a:t>
                      </a:r>
                    </a:p>
                  </a:txBody>
                  <a:tcPr marL="73152" marR="73152" marT="36576" marB="36576" anchor="ctr">
                    <a:solidFill>
                      <a:srgbClr val="FFFFFF"/>
                    </a:solidFill>
                  </a:tcPr>
                </a:tc>
                <a:tc>
                  <a:txBody>
                    <a:bodyPr wrap="square"/>
                    <a:lstStyle/>
                    <a:p>
                      <a:pPr algn="r"/>
                      <a:r>
                        <a:rPr sz="1300" b="0">
                          <a:solidFill>
                            <a:srgbClr val="1B2633"/>
                          </a:solidFill>
                          <a:latin typeface="Calibri"/>
                        </a:rPr>
                        <a:t>790</a:t>
                      </a:r>
                    </a:p>
                  </a:txBody>
                  <a:tcPr marL="73152" marR="73152" marT="36576" marB="36576" anchor="ctr">
                    <a:solidFill>
                      <a:srgbClr val="FFFFFF"/>
                    </a:solidFill>
                  </a:tcPr>
                </a:tc>
                <a:tc>
                  <a:txBody>
                    <a:bodyPr wrap="square"/>
                    <a:lstStyle/>
                    <a:p>
                      <a:pPr algn="r"/>
                      <a:r>
                        <a:rPr sz="1300" b="0">
                          <a:solidFill>
                            <a:srgbClr val="1B2633"/>
                          </a:solidFill>
                          <a:latin typeface="Calibri"/>
                        </a:rPr>
                        <a:t>31</a:t>
                      </a:r>
                    </a:p>
                  </a:txBody>
                  <a:tcPr marL="73152" marR="73152" marT="36576" marB="36576" anchor="ctr">
                    <a:solidFill>
                      <a:srgbClr val="FFFFFF"/>
                    </a:solidFill>
                  </a:tcPr>
                </a:tc>
                <a:tc>
                  <a:txBody>
                    <a:bodyPr wrap="square"/>
                    <a:lstStyle/>
                    <a:p>
                      <a:pPr algn="r"/>
                      <a:r>
                        <a:rPr sz="1300" b="0">
                          <a:solidFill>
                            <a:srgbClr val="1B2633"/>
                          </a:solidFill>
                          <a:latin typeface="Calibri"/>
                        </a:rPr>
                        <a:t>7.9</a:t>
                      </a:r>
                    </a:p>
                  </a:txBody>
                  <a:tcPr marL="73152" marR="73152" marT="36576" marB="36576" anchor="ctr">
                    <a:solidFill>
                      <a:srgbClr val="FFFFFF"/>
                    </a:solidFill>
                  </a:tcPr>
                </a:tc>
                <a:tc>
                  <a:txBody>
                    <a:bodyPr wrap="square"/>
                    <a:lstStyle/>
                    <a:p>
                      <a:pPr algn="r"/>
                      <a:r>
                        <a:rPr sz="1300" b="0">
                          <a:solidFill>
                            <a:srgbClr val="1B2633"/>
                          </a:solidFill>
                          <a:latin typeface="Calibri"/>
                        </a:rPr>
                        <a:t>2.0</a:t>
                      </a:r>
                    </a:p>
                  </a:txBody>
                  <a:tcPr marL="73152" marR="73152" marT="36576" marB="36576" anchor="ctr">
                    <a:solidFill>
                      <a:srgbClr val="FFFFFF"/>
                    </a:solidFill>
                  </a:tcPr>
                </a:tc>
                <a:tc>
                  <a:txBody>
                    <a:bodyPr wrap="square"/>
                    <a:lstStyle/>
                    <a:p>
                      <a:pPr algn="r"/>
                      <a:r>
                        <a:rPr sz="1300" b="0">
                          <a:solidFill>
                            <a:srgbClr val="1B2633"/>
                          </a:solidFill>
                          <a:latin typeface="Calibri"/>
                        </a:rPr>
                        <a:t>0.31</a:t>
                      </a:r>
                    </a:p>
                  </a:txBody>
                  <a:tcPr marL="73152" marR="73152" marT="36576" marB="36576" anchor="ctr">
                    <a:solidFill>
                      <a:srgbClr val="FFFFFF"/>
                    </a:solidFill>
                  </a:tcPr>
                </a:tc>
                <a:tc>
                  <a:txBody>
                    <a:bodyPr wrap="square"/>
                    <a:lstStyle/>
                    <a:p>
                      <a:pPr algn="r"/>
                      <a:r>
                        <a:rPr sz="1300" b="0">
                          <a:solidFill>
                            <a:srgbClr val="1B2633"/>
                          </a:solidFill>
                          <a:latin typeface="Calibri"/>
                        </a:rPr>
                        <a:t>0.16</a:t>
                      </a:r>
                    </a:p>
                  </a:txBody>
                  <a:tcPr marL="73152" marR="73152" marT="36576" marB="36576" anchor="ctr">
                    <a:solidFill>
                      <a:srgbClr val="FFFFFF"/>
                    </a:solidFill>
                  </a:tcPr>
                </a:tc>
              </a:tr>
              <a:tr h="548640">
                <a:tc>
                  <a:txBody>
                    <a:bodyPr wrap="square"/>
                    <a:lstStyle/>
                    <a:p>
                      <a:pPr algn="l"/>
                      <a:r>
                        <a:rPr sz="1300" b="0">
                          <a:solidFill>
                            <a:srgbClr val="1B2633"/>
                          </a:solidFill>
                          <a:latin typeface="Calibri"/>
                        </a:rPr>
                        <a:t>0.01 g²/Hz</a:t>
                      </a:r>
                    </a:p>
                  </a:txBody>
                  <a:tcPr marL="73152" marR="73152" marT="36576" marB="36576" anchor="ctr">
                    <a:solidFill>
                      <a:srgbClr val="EEF2F5"/>
                    </a:solidFill>
                  </a:tcPr>
                </a:tc>
                <a:tc>
                  <a:txBody>
                    <a:bodyPr wrap="square"/>
                    <a:lstStyle/>
                    <a:p>
                      <a:pPr algn="r"/>
                      <a:r>
                        <a:rPr sz="1300" b="0">
                          <a:solidFill>
                            <a:srgbClr val="1B2633"/>
                          </a:solidFill>
                          <a:latin typeface="Calibri"/>
                        </a:rPr>
                        <a:t>62 k</a:t>
                      </a:r>
                    </a:p>
                  </a:txBody>
                  <a:tcPr marL="73152" marR="73152" marT="36576" marB="36576" anchor="ctr">
                    <a:solidFill>
                      <a:srgbClr val="EEF2F5"/>
                    </a:solidFill>
                  </a:tcPr>
                </a:tc>
                <a:tc>
                  <a:txBody>
                    <a:bodyPr wrap="square"/>
                    <a:lstStyle/>
                    <a:p>
                      <a:pPr algn="r"/>
                      <a:r>
                        <a:rPr sz="1300" b="0">
                          <a:solidFill>
                            <a:srgbClr val="1B2633"/>
                          </a:solidFill>
                          <a:latin typeface="Calibri"/>
                        </a:rPr>
                        <a:t>2 480</a:t>
                      </a:r>
                    </a:p>
                  </a:txBody>
                  <a:tcPr marL="73152" marR="73152" marT="36576" marB="36576" anchor="ctr">
                    <a:solidFill>
                      <a:srgbClr val="EEF2F5"/>
                    </a:solidFill>
                  </a:tcPr>
                </a:tc>
                <a:tc>
                  <a:txBody>
                    <a:bodyPr wrap="square"/>
                    <a:lstStyle/>
                    <a:p>
                      <a:pPr algn="r"/>
                      <a:r>
                        <a:rPr sz="1300" b="0">
                          <a:solidFill>
                            <a:srgbClr val="1B2633"/>
                          </a:solidFill>
                          <a:latin typeface="Calibri"/>
                        </a:rPr>
                        <a:t>99</a:t>
                      </a:r>
                    </a:p>
                  </a:txBody>
                  <a:tcPr marL="73152" marR="73152" marT="36576" marB="36576" anchor="ctr">
                    <a:solidFill>
                      <a:srgbClr val="EEF2F5"/>
                    </a:solidFill>
                  </a:tcPr>
                </a:tc>
                <a:tc>
                  <a:txBody>
                    <a:bodyPr wrap="square"/>
                    <a:lstStyle/>
                    <a:p>
                      <a:pPr algn="r"/>
                      <a:r>
                        <a:rPr sz="1300" b="0">
                          <a:solidFill>
                            <a:srgbClr val="1B2633"/>
                          </a:solidFill>
                          <a:latin typeface="Calibri"/>
                        </a:rPr>
                        <a:t>25</a:t>
                      </a:r>
                    </a:p>
                  </a:txBody>
                  <a:tcPr marL="73152" marR="73152" marT="36576" marB="36576" anchor="ctr">
                    <a:solidFill>
                      <a:srgbClr val="EEF2F5"/>
                    </a:solidFill>
                  </a:tcPr>
                </a:tc>
                <a:tc>
                  <a:txBody>
                    <a:bodyPr wrap="square"/>
                    <a:lstStyle/>
                    <a:p>
                      <a:pPr algn="r"/>
                      <a:r>
                        <a:rPr sz="1300" b="0">
                          <a:solidFill>
                            <a:srgbClr val="1B2633"/>
                          </a:solidFill>
                          <a:latin typeface="Calibri"/>
                        </a:rPr>
                        <a:t>6.2</a:t>
                      </a:r>
                    </a:p>
                  </a:txBody>
                  <a:tcPr marL="73152" marR="73152" marT="36576" marB="36576" anchor="ctr">
                    <a:solidFill>
                      <a:srgbClr val="EEF2F5"/>
                    </a:solidFill>
                  </a:tcPr>
                </a:tc>
                <a:tc>
                  <a:txBody>
                    <a:bodyPr wrap="square"/>
                    <a:lstStyle/>
                    <a:p>
                      <a:pPr algn="r"/>
                      <a:r>
                        <a:rPr sz="1300" b="0">
                          <a:solidFill>
                            <a:srgbClr val="1B2633"/>
                          </a:solidFill>
                          <a:latin typeface="Calibri"/>
                        </a:rPr>
                        <a:t>0.99</a:t>
                      </a:r>
                    </a:p>
                  </a:txBody>
                  <a:tcPr marL="73152" marR="73152" marT="36576" marB="36576" anchor="ctr">
                    <a:solidFill>
                      <a:srgbClr val="EEF2F5"/>
                    </a:solidFill>
                  </a:tcPr>
                </a:tc>
                <a:tc>
                  <a:txBody>
                    <a:bodyPr wrap="square"/>
                    <a:lstStyle/>
                    <a:p>
                      <a:pPr algn="r"/>
                      <a:r>
                        <a:rPr sz="1300" b="0">
                          <a:solidFill>
                            <a:srgbClr val="1B2633"/>
                          </a:solidFill>
                          <a:latin typeface="Calibri"/>
                        </a:rPr>
                        <a:t>0.51</a:t>
                      </a:r>
                    </a:p>
                  </a:txBody>
                  <a:tcPr marL="73152" marR="73152" marT="36576" marB="36576" anchor="ctr">
                    <a:solidFill>
                      <a:srgbClr val="EEF2F5"/>
                    </a:solidFill>
                  </a:tcPr>
                </a:tc>
              </a:tr>
              <a:tr h="548640">
                <a:tc>
                  <a:txBody>
                    <a:bodyPr wrap="square"/>
                    <a:lstStyle/>
                    <a:p>
                      <a:pPr algn="l"/>
                      <a:r>
                        <a:rPr sz="1300" b="0">
                          <a:solidFill>
                            <a:srgbClr val="1B2633"/>
                          </a:solidFill>
                          <a:latin typeface="Calibri"/>
                        </a:rPr>
                        <a:t>0.05 g²/Hz</a:t>
                      </a:r>
                    </a:p>
                  </a:txBody>
                  <a:tcPr marL="73152" marR="73152" marT="36576" marB="36576" anchor="ctr">
                    <a:solidFill>
                      <a:srgbClr val="FFFFFF"/>
                    </a:solidFill>
                  </a:tcPr>
                </a:tc>
                <a:tc>
                  <a:txBody>
                    <a:bodyPr wrap="square"/>
                    <a:lstStyle/>
                    <a:p>
                      <a:pPr algn="r"/>
                      <a:r>
                        <a:rPr sz="1300" b="0">
                          <a:solidFill>
                            <a:srgbClr val="1B2633"/>
                          </a:solidFill>
                          <a:latin typeface="Calibri"/>
                        </a:rPr>
                        <a:t>139 k</a:t>
                      </a:r>
                    </a:p>
                  </a:txBody>
                  <a:tcPr marL="73152" marR="73152" marT="36576" marB="36576" anchor="ctr">
                    <a:solidFill>
                      <a:srgbClr val="FFFFFF"/>
                    </a:solidFill>
                  </a:tcPr>
                </a:tc>
                <a:tc>
                  <a:txBody>
                    <a:bodyPr wrap="square"/>
                    <a:lstStyle/>
                    <a:p>
                      <a:pPr algn="r"/>
                      <a:r>
                        <a:rPr sz="1300" b="0">
                          <a:solidFill>
                            <a:srgbClr val="1B2633"/>
                          </a:solidFill>
                          <a:latin typeface="Calibri"/>
                        </a:rPr>
                        <a:t>5 550</a:t>
                      </a:r>
                    </a:p>
                  </a:txBody>
                  <a:tcPr marL="73152" marR="73152" marT="36576" marB="36576" anchor="ctr">
                    <a:solidFill>
                      <a:srgbClr val="FFFFFF"/>
                    </a:solidFill>
                  </a:tcPr>
                </a:tc>
                <a:tc>
                  <a:txBody>
                    <a:bodyPr wrap="square"/>
                    <a:lstStyle/>
                    <a:p>
                      <a:pPr algn="r"/>
                      <a:r>
                        <a:rPr sz="1300" b="0">
                          <a:solidFill>
                            <a:srgbClr val="1B2633"/>
                          </a:solidFill>
                          <a:latin typeface="Calibri"/>
                        </a:rPr>
                        <a:t>222</a:t>
                      </a:r>
                    </a:p>
                  </a:txBody>
                  <a:tcPr marL="73152" marR="73152" marT="36576" marB="36576" anchor="ctr">
                    <a:solidFill>
                      <a:srgbClr val="FFFFFF"/>
                    </a:solidFill>
                  </a:tcPr>
                </a:tc>
                <a:tc>
                  <a:txBody>
                    <a:bodyPr wrap="square"/>
                    <a:lstStyle/>
                    <a:p>
                      <a:pPr algn="r"/>
                      <a:r>
                        <a:rPr sz="1300" b="0">
                          <a:solidFill>
                            <a:srgbClr val="1B2633"/>
                          </a:solidFill>
                          <a:latin typeface="Calibri"/>
                        </a:rPr>
                        <a:t>56</a:t>
                      </a:r>
                    </a:p>
                  </a:txBody>
                  <a:tcPr marL="73152" marR="73152" marT="36576" marB="36576" anchor="ctr">
                    <a:solidFill>
                      <a:srgbClr val="FFFFFF"/>
                    </a:solidFill>
                  </a:tcPr>
                </a:tc>
                <a:tc>
                  <a:txBody>
                    <a:bodyPr wrap="square"/>
                    <a:lstStyle/>
                    <a:p>
                      <a:pPr algn="r"/>
                      <a:r>
                        <a:rPr sz="1300" b="0">
                          <a:solidFill>
                            <a:srgbClr val="1B2633"/>
                          </a:solidFill>
                          <a:latin typeface="Calibri"/>
                        </a:rPr>
                        <a:t>14</a:t>
                      </a:r>
                    </a:p>
                  </a:txBody>
                  <a:tcPr marL="73152" marR="73152" marT="36576" marB="36576" anchor="ctr">
                    <a:solidFill>
                      <a:srgbClr val="FFFFFF"/>
                    </a:solidFill>
                  </a:tcPr>
                </a:tc>
                <a:tc>
                  <a:txBody>
                    <a:bodyPr wrap="square"/>
                    <a:lstStyle/>
                    <a:p>
                      <a:pPr algn="r"/>
                      <a:r>
                        <a:rPr sz="1300" b="0">
                          <a:solidFill>
                            <a:srgbClr val="1B2633"/>
                          </a:solidFill>
                          <a:latin typeface="Calibri"/>
                        </a:rPr>
                        <a:t>2.2</a:t>
                      </a:r>
                    </a:p>
                  </a:txBody>
                  <a:tcPr marL="73152" marR="73152" marT="36576" marB="36576" anchor="ctr">
                    <a:solidFill>
                      <a:srgbClr val="FFFFFF"/>
                    </a:solidFill>
                  </a:tcPr>
                </a:tc>
                <a:tc>
                  <a:txBody>
                    <a:bodyPr wrap="square"/>
                    <a:lstStyle/>
                    <a:p>
                      <a:pPr algn="r"/>
                      <a:r>
                        <a:rPr sz="1300" b="0">
                          <a:solidFill>
                            <a:srgbClr val="1B2633"/>
                          </a:solidFill>
                          <a:latin typeface="Calibri"/>
                        </a:rPr>
                        <a:t>1.1</a:t>
                      </a:r>
                    </a:p>
                  </a:txBody>
                  <a:tcPr marL="73152" marR="73152" marT="36576" marB="36576" anchor="ctr">
                    <a:solidFill>
                      <a:srgbClr val="FFFFFF"/>
                    </a:solidFill>
                  </a:tcPr>
                </a:tc>
              </a:tr>
            </a:tbl>
          </a:graphicData>
        </a:graphic>
      </p:graphicFrame>
      <p:sp>
        <p:nvSpPr>
          <p:cNvPr id="7" name="Rounded Rectangle 6"/>
          <p:cNvSpPr/>
          <p:nvPr/>
        </p:nvSpPr>
        <p:spPr>
          <a:xfrm>
            <a:off x="8229600" y="1783080"/>
            <a:ext cx="3383280" cy="219456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458200" y="1874519"/>
            <a:ext cx="3017520" cy="822960"/>
          </a:xfrm>
          <a:prstGeom prst="rect">
            <a:avLst/>
          </a:prstGeom>
          <a:noFill/>
        </p:spPr>
        <p:txBody>
          <a:bodyPr wrap="square" anchor="t" lIns="0" rIns="0" tIns="0" bIns="0">
            <a:spAutoFit/>
          </a:bodyPr>
          <a:lstStyle/>
          <a:p>
            <a:pPr algn="l">
              <a:spcAft>
                <a:spcPts val="0"/>
              </a:spcAft>
            </a:pPr>
            <a:r>
              <a:rPr sz="3600" b="1" i="0">
                <a:solidFill>
                  <a:srgbClr val="D93A2B"/>
                </a:solidFill>
                <a:latin typeface="Cambria"/>
              </a:rPr>
              <a:t>≈ 1 nm/√Hz</a:t>
            </a:r>
          </a:p>
        </p:txBody>
      </p:sp>
      <p:sp>
        <p:nvSpPr>
          <p:cNvPr id="9" name="TextBox 8"/>
          <p:cNvSpPr txBox="1"/>
          <p:nvPr/>
        </p:nvSpPr>
        <p:spPr>
          <a:xfrm>
            <a:off x="8458200" y="2697480"/>
            <a:ext cx="3017520" cy="1188720"/>
          </a:xfrm>
          <a:prstGeom prst="rect">
            <a:avLst/>
          </a:prstGeom>
          <a:noFill/>
        </p:spPr>
        <p:txBody>
          <a:bodyPr wrap="square" anchor="t" lIns="0" rIns="0" tIns="0" bIns="0">
            <a:spAutoFit/>
          </a:bodyPr>
          <a:lstStyle/>
          <a:p>
            <a:pPr algn="l">
              <a:spcAft>
                <a:spcPts val="0"/>
              </a:spcAft>
            </a:pPr>
            <a:r>
              <a:rPr sz="1400" b="0" i="0">
                <a:solidFill>
                  <a:srgbClr val="2E3D4F"/>
                </a:solidFill>
                <a:latin typeface="Calibri"/>
              </a:rPr>
              <a:t>base motion at 5 kHz for 0.01 g²/Hz. Specimen resonances amplify this, but between them the Q2 noise floor must sit lower.</a:t>
            </a:r>
          </a:p>
        </p:txBody>
      </p:sp>
      <p:sp>
        <p:nvSpPr>
          <p:cNvPr id="10" name="TextBox 9"/>
          <p:cNvSpPr txBox="1"/>
          <p:nvPr/>
        </p:nvSpPr>
        <p:spPr>
          <a:xfrm>
            <a:off x="548640" y="4343400"/>
            <a:ext cx="11064240" cy="1828800"/>
          </a:xfrm>
          <a:prstGeom prst="rect">
            <a:avLst/>
          </a:prstGeom>
          <a:noFill/>
        </p:spPr>
        <p:txBody>
          <a:bodyPr wrap="square" anchor="t" lIns="0" rIns="0" tIns="0" bIns="0">
            <a:spAutoFit/>
          </a:bodyPr>
          <a:lstStyle/>
          <a:p>
            <a:pPr algn="l" marL="228600" indent="-228600">
              <a:spcAft>
                <a:spcPts val="800"/>
              </a:spcAft>
              <a:buChar char="•"/>
            </a:pPr>
            <a:r>
              <a:rPr sz="1400" b="0" i="0">
                <a:solidFill>
                  <a:srgbClr val="1B2633"/>
                </a:solidFill>
                <a:latin typeface="Calibri"/>
              </a:rPr>
              <a:t>rms displacement of a flat 20–2000 Hz profile is 50–360 µm, almost all of it below 100 Hz.</a:t>
            </a:r>
          </a:p>
          <a:p>
            <a:pPr algn="l" marL="228600" indent="-228600">
              <a:spcAft>
                <a:spcPts val="800"/>
              </a:spcAft>
              <a:buChar char="•"/>
            </a:pPr>
            <a:r>
              <a:rPr sz="1400" b="0" i="0">
                <a:solidFill>
                  <a:srgbClr val="1B2633"/>
                </a:solidFill>
                <a:latin typeface="Calibri"/>
              </a:rPr>
              <a:t>Ask Ommatidia for the Q2 displacement noise floor and dynamic range per beam up to 7 kHz.</a:t>
            </a:r>
          </a:p>
          <a:p>
            <a:pPr algn="l" marL="228600" indent="-228600">
              <a:spcAft>
                <a:spcPts val="800"/>
              </a:spcAft>
              <a:buChar char="•"/>
            </a:pPr>
            <a:r>
              <a:rPr sz="1400" b="0" i="0">
                <a:solidFill>
                  <a:srgbClr val="1B2633"/>
                </a:solidFill>
                <a:latin typeface="Calibri"/>
              </a:rPr>
              <a:t>The Q2 stand must not pick up the shaker's reaction forces: put it on a separate floor support or isolate the shaker; the fixture reference beam shows what is left.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nchor="b" lIns="0" rIns="0" tIns="0" bIns="0">
            <a:spAutoFit/>
          </a:bodyPr>
          <a:lstStyle/>
          <a:p>
            <a:pPr algn="l">
              <a:spcAft>
                <a:spcPts val="0"/>
              </a:spcAft>
            </a:pPr>
            <a:r>
              <a:rPr sz="3200" b="1" i="0">
                <a:solidFill>
                  <a:srgbClr val="1B2633"/>
                </a:solidFill>
                <a:latin typeface="Cambria"/>
              </a:rPr>
              <a:t>Optional controller extensions</a:t>
            </a:r>
          </a:p>
        </p:txBody>
      </p:sp>
      <p:sp>
        <p:nvSpPr>
          <p:cNvPr id="3" name="TextBox 2"/>
          <p:cNvSpPr txBox="1"/>
          <p:nvPr/>
        </p:nvSpPr>
        <p:spPr>
          <a:xfrm>
            <a:off x="548640" y="1097280"/>
            <a:ext cx="11064240" cy="411480"/>
          </a:xfrm>
          <a:prstGeom prst="rect">
            <a:avLst/>
          </a:prstGeom>
          <a:noFill/>
        </p:spPr>
        <p:txBody>
          <a:bodyPr wrap="square" anchor="t" lIns="0" rIns="0" tIns="0" bIns="0">
            <a:spAutoFit/>
          </a:bodyPr>
          <a:lstStyle/>
          <a:p>
            <a:pPr algn="l">
              <a:spcAft>
                <a:spcPts val="0"/>
              </a:spcAft>
            </a:pPr>
            <a:r>
              <a:rPr sz="1600" b="0" i="0">
                <a:solidFill>
                  <a:srgbClr val="5B6B7C"/>
                </a:solidFill>
                <a:latin typeface="Calibri"/>
              </a:rPr>
              <a:t>None is needed for option 3; add them only if the tests need them (effort: low / medium / high)</a:t>
            </a:r>
          </a:p>
        </p:txBody>
      </p:sp>
      <p:sp>
        <p:nvSpPr>
          <p:cNvPr id="4" name="TextBox 3"/>
          <p:cNvSpPr txBox="1"/>
          <p:nvPr/>
        </p:nvSpPr>
        <p:spPr>
          <a:xfrm>
            <a:off x="548640" y="6400800"/>
            <a:ext cx="8229600" cy="274320"/>
          </a:xfrm>
          <a:prstGeom prst="rect">
            <a:avLst/>
          </a:prstGeom>
          <a:noFill/>
        </p:spPr>
        <p:txBody>
          <a:bodyPr wrap="square" anchor="t" lIns="0" rIns="0" tIns="0" bIns="0">
            <a:spAutoFit/>
          </a:bodyPr>
          <a:lstStyle/>
          <a:p>
            <a:pPr algn="l">
              <a:spcAft>
                <a:spcPts val="0"/>
              </a:spcAft>
            </a:pPr>
            <a:r>
              <a:rPr sz="1000" b="0" i="0">
                <a:solidFill>
                  <a:srgbClr val="5B6B7C"/>
                </a:solidFill>
                <a:latin typeface="Calibri"/>
              </a:rPr>
              <a:t>Q2 lidar + vcactl integration</a:t>
            </a:r>
          </a:p>
        </p:txBody>
      </p:sp>
      <p:sp>
        <p:nvSpPr>
          <p:cNvPr id="5" name="TextBox 4"/>
          <p:cNvSpPr txBox="1"/>
          <p:nvPr/>
        </p:nvSpPr>
        <p:spPr>
          <a:xfrm>
            <a:off x="10698480" y="6400800"/>
            <a:ext cx="914400" cy="274320"/>
          </a:xfrm>
          <a:prstGeom prst="rect">
            <a:avLst/>
          </a:prstGeom>
          <a:noFill/>
        </p:spPr>
        <p:txBody>
          <a:bodyPr wrap="square" anchor="t" lIns="0" rIns="0" tIns="0" bIns="0">
            <a:spAutoFit/>
          </a:bodyPr>
          <a:lstStyle/>
          <a:p>
            <a:pPr algn="r">
              <a:spcAft>
                <a:spcPts val="0"/>
              </a:spcAft>
            </a:pPr>
            <a:r>
              <a:rPr sz="1000" b="0" i="0">
                <a:solidFill>
                  <a:srgbClr val="5B6B7C"/>
                </a:solidFill>
                <a:latin typeface="Calibri"/>
              </a:rPr>
              <a:t>10 / 12</a:t>
            </a:r>
          </a:p>
        </p:txBody>
      </p:sp>
      <p:sp>
        <p:nvSpPr>
          <p:cNvPr id="6" name="Rounded Rectangle 5"/>
          <p:cNvSpPr/>
          <p:nvPr/>
        </p:nvSpPr>
        <p:spPr>
          <a:xfrm>
            <a:off x="548640" y="1737360"/>
            <a:ext cx="5440680" cy="201168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822959" y="2011679"/>
            <a:ext cx="1143000" cy="411480"/>
          </a:xfrm>
          <a:prstGeom prst="roundRect">
            <a:avLst>
              <a:gd name="adj" fmla="val 8000"/>
            </a:avLst>
          </a:prstGeom>
          <a:solidFill>
            <a:srgbClr val="0F76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22959" y="2011679"/>
            <a:ext cx="1143000" cy="411480"/>
          </a:xfrm>
          <a:prstGeom prst="rect">
            <a:avLst/>
          </a:prstGeom>
          <a:noFill/>
        </p:spPr>
        <p:txBody>
          <a:bodyPr wrap="square" anchor="ctr" lIns="0" rIns="0" tIns="0" bIns="0">
            <a:spAutoFit/>
          </a:bodyPr>
          <a:lstStyle/>
          <a:p>
            <a:pPr algn="ctr">
              <a:spcAft>
                <a:spcPts val="0"/>
              </a:spcAft>
            </a:pPr>
            <a:r>
              <a:rPr sz="1300" b="1" i="0">
                <a:solidFill>
                  <a:srgbClr val="FFFFFF"/>
                </a:solidFill>
                <a:latin typeface="Calibri"/>
              </a:rPr>
              <a:t>Low</a:t>
            </a:r>
          </a:p>
        </p:txBody>
      </p:sp>
      <p:sp>
        <p:nvSpPr>
          <p:cNvPr id="9" name="TextBox 8"/>
          <p:cNvSpPr txBox="1"/>
          <p:nvPr/>
        </p:nvSpPr>
        <p:spPr>
          <a:xfrm>
            <a:off x="2148840" y="1965960"/>
            <a:ext cx="3657600" cy="502920"/>
          </a:xfrm>
          <a:prstGeom prst="rect">
            <a:avLst/>
          </a:prstGeom>
          <a:noFill/>
        </p:spPr>
        <p:txBody>
          <a:bodyPr wrap="square" anchor="ctr" lIns="0" rIns="0" tIns="0" bIns="0">
            <a:spAutoFit/>
          </a:bodyPr>
          <a:lstStyle/>
          <a:p>
            <a:pPr algn="l">
              <a:spcAft>
                <a:spcPts val="0"/>
              </a:spcAft>
            </a:pPr>
            <a:r>
              <a:rPr sz="1600" b="1" i="0">
                <a:solidFill>
                  <a:srgbClr val="1B2633"/>
                </a:solidFill>
                <a:latin typeface="Calibri"/>
              </a:rPr>
              <a:t>Drive copy on a 2nd AO</a:t>
            </a:r>
          </a:p>
        </p:txBody>
      </p:sp>
      <p:sp>
        <p:nvSpPr>
          <p:cNvPr id="10" name="TextBox 9"/>
          <p:cNvSpPr txBox="1"/>
          <p:nvPr/>
        </p:nvSpPr>
        <p:spPr>
          <a:xfrm>
            <a:off x="822959" y="2606039"/>
            <a:ext cx="4937760" cy="1097280"/>
          </a:xfrm>
          <a:prstGeom prst="rect">
            <a:avLst/>
          </a:prstGeom>
          <a:noFill/>
        </p:spPr>
        <p:txBody>
          <a:bodyPr wrap="square" anchor="t" lIns="0" rIns="0" tIns="0" bIns="0">
            <a:spAutoFit/>
          </a:bodyPr>
          <a:lstStyle/>
          <a:p>
            <a:pPr algn="l">
              <a:spcAft>
                <a:spcPts val="0"/>
              </a:spcAft>
            </a:pPr>
            <a:r>
              <a:rPr sz="1400" b="0" i="0">
                <a:solidFill>
                  <a:srgbClr val="2E3D4F"/>
                </a:solidFill>
                <a:latin typeface="Calibri"/>
              </a:rPr>
              <a:t>Scaled random drive on AO 1 (USB-6211, PXIe-4468) as the option 1 reference; same task, same clock as the drive</a:t>
            </a:r>
          </a:p>
        </p:txBody>
      </p:sp>
      <p:sp>
        <p:nvSpPr>
          <p:cNvPr id="11" name="Rounded Rectangle 10"/>
          <p:cNvSpPr/>
          <p:nvPr/>
        </p:nvSpPr>
        <p:spPr>
          <a:xfrm>
            <a:off x="6172200" y="1737360"/>
            <a:ext cx="5440680" cy="201168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6446520" y="2011679"/>
            <a:ext cx="1143000" cy="411480"/>
          </a:xfrm>
          <a:prstGeom prst="roundRect">
            <a:avLst>
              <a:gd name="adj" fmla="val 8000"/>
            </a:avLst>
          </a:prstGeom>
          <a:solidFill>
            <a:srgbClr val="0F76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46520" y="2011679"/>
            <a:ext cx="1143000" cy="411480"/>
          </a:xfrm>
          <a:prstGeom prst="rect">
            <a:avLst/>
          </a:prstGeom>
          <a:noFill/>
        </p:spPr>
        <p:txBody>
          <a:bodyPr wrap="square" anchor="ctr" lIns="0" rIns="0" tIns="0" bIns="0">
            <a:spAutoFit/>
          </a:bodyPr>
          <a:lstStyle/>
          <a:p>
            <a:pPr algn="ctr">
              <a:spcAft>
                <a:spcPts val="0"/>
              </a:spcAft>
            </a:pPr>
            <a:r>
              <a:rPr sz="1300" b="1" i="0">
                <a:solidFill>
                  <a:srgbClr val="FFFFFF"/>
                </a:solidFill>
                <a:latin typeface="Calibri"/>
              </a:rPr>
              <a:t>Low</a:t>
            </a:r>
          </a:p>
        </p:txBody>
      </p:sp>
      <p:sp>
        <p:nvSpPr>
          <p:cNvPr id="14" name="TextBox 13"/>
          <p:cNvSpPr txBox="1"/>
          <p:nvPr/>
        </p:nvSpPr>
        <p:spPr>
          <a:xfrm>
            <a:off x="7772400" y="1965960"/>
            <a:ext cx="3657600" cy="502920"/>
          </a:xfrm>
          <a:prstGeom prst="rect">
            <a:avLst/>
          </a:prstGeom>
          <a:noFill/>
        </p:spPr>
        <p:txBody>
          <a:bodyPr wrap="square" anchor="ctr" lIns="0" rIns="0" tIns="0" bIns="0">
            <a:spAutoFit/>
          </a:bodyPr>
          <a:lstStyle/>
          <a:p>
            <a:pPr algn="l">
              <a:spcAft>
                <a:spcPts val="0"/>
              </a:spcAft>
            </a:pPr>
            <a:r>
              <a:rPr sz="1600" b="1" i="0">
                <a:solidFill>
                  <a:srgbClr val="1B2633"/>
                </a:solidFill>
                <a:latin typeface="Calibri"/>
              </a:rPr>
              <a:t>Start trigger / time stamps</a:t>
            </a:r>
          </a:p>
        </p:txBody>
      </p:sp>
      <p:sp>
        <p:nvSpPr>
          <p:cNvPr id="15" name="TextBox 14"/>
          <p:cNvSpPr txBox="1"/>
          <p:nvPr/>
        </p:nvSpPr>
        <p:spPr>
          <a:xfrm>
            <a:off x="6446520" y="2606039"/>
            <a:ext cx="4937760" cy="1097280"/>
          </a:xfrm>
          <a:prstGeom prst="rect">
            <a:avLst/>
          </a:prstGeom>
          <a:noFill/>
        </p:spPr>
        <p:txBody>
          <a:bodyPr wrap="square" anchor="t" lIns="0" rIns="0" tIns="0" bIns="0">
            <a:spAutoFit/>
          </a:bodyPr>
          <a:lstStyle/>
          <a:p>
            <a:pPr algn="l">
              <a:spcAft>
                <a:spcPts val="0"/>
              </a:spcAft>
            </a:pPr>
            <a:r>
              <a:rPr sz="1400" b="0" i="0">
                <a:solidFill>
                  <a:srgbClr val="2E3D4F"/>
                </a:solidFill>
                <a:latin typeface="Calibri"/>
              </a:rPr>
              <a:t>Export the AI start trigger on a PFI line and log wall-clock times, to align Q2 records with vcactl runs (if the Q2 has a trigger input)</a:t>
            </a:r>
          </a:p>
        </p:txBody>
      </p:sp>
      <p:sp>
        <p:nvSpPr>
          <p:cNvPr id="16" name="Rounded Rectangle 15"/>
          <p:cNvSpPr/>
          <p:nvPr/>
        </p:nvSpPr>
        <p:spPr>
          <a:xfrm>
            <a:off x="548640" y="3977639"/>
            <a:ext cx="5440680" cy="201168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22959" y="4251959"/>
            <a:ext cx="1143000" cy="411480"/>
          </a:xfrm>
          <a:prstGeom prst="roundRect">
            <a:avLst>
              <a:gd name="adj" fmla="val 8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59" y="4251959"/>
            <a:ext cx="1143000" cy="411480"/>
          </a:xfrm>
          <a:prstGeom prst="rect">
            <a:avLst/>
          </a:prstGeom>
          <a:noFill/>
        </p:spPr>
        <p:txBody>
          <a:bodyPr wrap="square" anchor="ctr" lIns="0" rIns="0" tIns="0" bIns="0">
            <a:spAutoFit/>
          </a:bodyPr>
          <a:lstStyle/>
          <a:p>
            <a:pPr algn="ctr">
              <a:spcAft>
                <a:spcPts val="0"/>
              </a:spcAft>
            </a:pPr>
            <a:r>
              <a:rPr sz="1300" b="1" i="0">
                <a:solidFill>
                  <a:srgbClr val="FFFFFF"/>
                </a:solidFill>
                <a:latin typeface="Calibri"/>
              </a:rPr>
              <a:t>Medium</a:t>
            </a:r>
          </a:p>
        </p:txBody>
      </p:sp>
      <p:sp>
        <p:nvSpPr>
          <p:cNvPr id="19" name="TextBox 18"/>
          <p:cNvSpPr txBox="1"/>
          <p:nvPr/>
        </p:nvSpPr>
        <p:spPr>
          <a:xfrm>
            <a:off x="2148840" y="4206240"/>
            <a:ext cx="3657600" cy="502920"/>
          </a:xfrm>
          <a:prstGeom prst="rect">
            <a:avLst/>
          </a:prstGeom>
          <a:noFill/>
        </p:spPr>
        <p:txBody>
          <a:bodyPr wrap="square" anchor="ctr" lIns="0" rIns="0" tIns="0" bIns="0">
            <a:spAutoFit/>
          </a:bodyPr>
          <a:lstStyle/>
          <a:p>
            <a:pPr algn="l">
              <a:spcAft>
                <a:spcPts val="0"/>
              </a:spcAft>
            </a:pPr>
            <a:r>
              <a:rPr sz="1600" b="1" i="0">
                <a:solidFill>
                  <a:srgbClr val="1B2633"/>
                </a:solidFill>
                <a:latin typeface="Calibri"/>
              </a:rPr>
              <a:t>Record extra AI channels</a:t>
            </a:r>
          </a:p>
        </p:txBody>
      </p:sp>
      <p:sp>
        <p:nvSpPr>
          <p:cNvPr id="20" name="TextBox 19"/>
          <p:cNvSpPr txBox="1"/>
          <p:nvPr/>
        </p:nvSpPr>
        <p:spPr>
          <a:xfrm>
            <a:off x="822959" y="4846320"/>
            <a:ext cx="4937760" cy="1097280"/>
          </a:xfrm>
          <a:prstGeom prst="rect">
            <a:avLst/>
          </a:prstGeom>
          <a:noFill/>
        </p:spPr>
        <p:txBody>
          <a:bodyPr wrap="square" anchor="t" lIns="0" rIns="0" tIns="0" bIns="0">
            <a:spAutoFit/>
          </a:bodyPr>
          <a:lstStyle/>
          <a:p>
            <a:pPr algn="l">
              <a:spcAft>
                <a:spcPts val="0"/>
              </a:spcAft>
            </a:pPr>
            <a:r>
              <a:rPr sz="1400" b="0" i="0">
                <a:solidFill>
                  <a:srgbClr val="2E3D4F"/>
                </a:solidFill>
                <a:latin typeface="Calibri"/>
              </a:rPr>
              <a:t>Log a second accelerometer or a Q2 analog output next to the control signal, for cross-checks in the vcactl run directory</a:t>
            </a:r>
          </a:p>
        </p:txBody>
      </p:sp>
      <p:sp>
        <p:nvSpPr>
          <p:cNvPr id="21" name="Rounded Rectangle 20"/>
          <p:cNvSpPr/>
          <p:nvPr/>
        </p:nvSpPr>
        <p:spPr>
          <a:xfrm>
            <a:off x="6172200" y="3977639"/>
            <a:ext cx="5440680" cy="201168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6446520" y="4251959"/>
            <a:ext cx="1143000" cy="411480"/>
          </a:xfrm>
          <a:prstGeom prst="roundRect">
            <a:avLst>
              <a:gd name="adj" fmla="val 8000"/>
            </a:avLst>
          </a:prstGeom>
          <a:solidFill>
            <a:srgbClr val="D9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46520" y="4251959"/>
            <a:ext cx="1143000" cy="411480"/>
          </a:xfrm>
          <a:prstGeom prst="rect">
            <a:avLst/>
          </a:prstGeom>
          <a:noFill/>
        </p:spPr>
        <p:txBody>
          <a:bodyPr wrap="square" anchor="ctr" lIns="0" rIns="0" tIns="0" bIns="0">
            <a:spAutoFit/>
          </a:bodyPr>
          <a:lstStyle/>
          <a:p>
            <a:pPr algn="ctr">
              <a:spcAft>
                <a:spcPts val="0"/>
              </a:spcAft>
            </a:pPr>
            <a:r>
              <a:rPr sz="1300" b="1" i="0">
                <a:solidFill>
                  <a:srgbClr val="FFFFFF"/>
                </a:solidFill>
                <a:latin typeface="Calibri"/>
              </a:rPr>
              <a:t>High</a:t>
            </a:r>
          </a:p>
        </p:txBody>
      </p:sp>
      <p:sp>
        <p:nvSpPr>
          <p:cNvPr id="24" name="TextBox 23"/>
          <p:cNvSpPr txBox="1"/>
          <p:nvPr/>
        </p:nvSpPr>
        <p:spPr>
          <a:xfrm>
            <a:off x="7772400" y="4206240"/>
            <a:ext cx="3657600" cy="502920"/>
          </a:xfrm>
          <a:prstGeom prst="rect">
            <a:avLst/>
          </a:prstGeom>
          <a:noFill/>
        </p:spPr>
        <p:txBody>
          <a:bodyPr wrap="square" anchor="ctr" lIns="0" rIns="0" tIns="0" bIns="0">
            <a:spAutoFit/>
          </a:bodyPr>
          <a:lstStyle/>
          <a:p>
            <a:pPr algn="l">
              <a:spcAft>
                <a:spcPts val="0"/>
              </a:spcAft>
            </a:pPr>
            <a:r>
              <a:rPr sz="1600" b="1" i="0">
                <a:solidFill>
                  <a:srgbClr val="1B2633"/>
                </a:solidFill>
                <a:latin typeface="Calibri"/>
              </a:rPr>
              <a:t>Monitor-only mode for a Q2 drive</a:t>
            </a:r>
          </a:p>
        </p:txBody>
      </p:sp>
      <p:sp>
        <p:nvSpPr>
          <p:cNvPr id="25" name="TextBox 24"/>
          <p:cNvSpPr txBox="1"/>
          <p:nvPr/>
        </p:nvSpPr>
        <p:spPr>
          <a:xfrm>
            <a:off x="6446520" y="4846320"/>
            <a:ext cx="4937760" cy="1097280"/>
          </a:xfrm>
          <a:prstGeom prst="rect">
            <a:avLst/>
          </a:prstGeom>
          <a:noFill/>
        </p:spPr>
        <p:txBody>
          <a:bodyPr wrap="square" anchor="t" lIns="0" rIns="0" tIns="0" bIns="0">
            <a:spAutoFit/>
          </a:bodyPr>
          <a:lstStyle/>
          <a:p>
            <a:pPr algn="l">
              <a:spcAft>
                <a:spcPts val="0"/>
              </a:spcAft>
            </a:pPr>
            <a:r>
              <a:rPr sz="1400" b="0" i="0">
                <a:solidFill>
                  <a:srgbClr val="2E3D4F"/>
                </a:solidFill>
                <a:latin typeface="Calibri"/>
              </a:rPr>
              <a:t>Option 2 with vcactl reading the response and only aborting; needs a separate state machine and a hardware drive cut-off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nchor="b" lIns="0" rIns="0" tIns="0" bIns="0">
            <a:spAutoFit/>
          </a:bodyPr>
          <a:lstStyle/>
          <a:p>
            <a:pPr algn="l">
              <a:spcAft>
                <a:spcPts val="0"/>
              </a:spcAft>
            </a:pPr>
            <a:r>
              <a:rPr sz="3200" b="1" i="0">
                <a:solidFill>
                  <a:srgbClr val="1B2633"/>
                </a:solidFill>
                <a:latin typeface="Cambria"/>
              </a:rPr>
              <a:t>Open questions for Ommatidia</a:t>
            </a:r>
          </a:p>
        </p:txBody>
      </p:sp>
      <p:sp>
        <p:nvSpPr>
          <p:cNvPr id="3" name="TextBox 2"/>
          <p:cNvSpPr txBox="1"/>
          <p:nvPr/>
        </p:nvSpPr>
        <p:spPr>
          <a:xfrm>
            <a:off x="548640" y="1097280"/>
            <a:ext cx="11064240" cy="411480"/>
          </a:xfrm>
          <a:prstGeom prst="rect">
            <a:avLst/>
          </a:prstGeom>
          <a:noFill/>
        </p:spPr>
        <p:txBody>
          <a:bodyPr wrap="square" anchor="t" lIns="0" rIns="0" tIns="0" bIns="0">
            <a:spAutoFit/>
          </a:bodyPr>
          <a:lstStyle/>
          <a:p>
            <a:pPr algn="l">
              <a:spcAft>
                <a:spcPts val="0"/>
              </a:spcAft>
            </a:pPr>
            <a:r>
              <a:rPr sz="1600" b="0" i="0">
                <a:solidFill>
                  <a:srgbClr val="5B6B7C"/>
                </a:solidFill>
                <a:latin typeface="Calibri"/>
              </a:rPr>
              <a:t>Their slides give only ±2 V for the analog in/out; these decide the details</a:t>
            </a:r>
          </a:p>
        </p:txBody>
      </p:sp>
      <p:sp>
        <p:nvSpPr>
          <p:cNvPr id="4" name="TextBox 3"/>
          <p:cNvSpPr txBox="1"/>
          <p:nvPr/>
        </p:nvSpPr>
        <p:spPr>
          <a:xfrm>
            <a:off x="548640" y="6400800"/>
            <a:ext cx="8229600" cy="274320"/>
          </a:xfrm>
          <a:prstGeom prst="rect">
            <a:avLst/>
          </a:prstGeom>
          <a:noFill/>
        </p:spPr>
        <p:txBody>
          <a:bodyPr wrap="square" anchor="t" lIns="0" rIns="0" tIns="0" bIns="0">
            <a:spAutoFit/>
          </a:bodyPr>
          <a:lstStyle/>
          <a:p>
            <a:pPr algn="l">
              <a:spcAft>
                <a:spcPts val="0"/>
              </a:spcAft>
            </a:pPr>
            <a:r>
              <a:rPr sz="1000" b="0" i="0">
                <a:solidFill>
                  <a:srgbClr val="5B6B7C"/>
                </a:solidFill>
                <a:latin typeface="Calibri"/>
              </a:rPr>
              <a:t>Q2 lidar + vcactl integration</a:t>
            </a:r>
          </a:p>
        </p:txBody>
      </p:sp>
      <p:sp>
        <p:nvSpPr>
          <p:cNvPr id="5" name="TextBox 4"/>
          <p:cNvSpPr txBox="1"/>
          <p:nvPr/>
        </p:nvSpPr>
        <p:spPr>
          <a:xfrm>
            <a:off x="10698480" y="6400800"/>
            <a:ext cx="914400" cy="274320"/>
          </a:xfrm>
          <a:prstGeom prst="rect">
            <a:avLst/>
          </a:prstGeom>
          <a:noFill/>
        </p:spPr>
        <p:txBody>
          <a:bodyPr wrap="square" anchor="t" lIns="0" rIns="0" tIns="0" bIns="0">
            <a:spAutoFit/>
          </a:bodyPr>
          <a:lstStyle/>
          <a:p>
            <a:pPr algn="r">
              <a:spcAft>
                <a:spcPts val="0"/>
              </a:spcAft>
            </a:pPr>
            <a:r>
              <a:rPr sz="1000" b="0" i="0">
                <a:solidFill>
                  <a:srgbClr val="5B6B7C"/>
                </a:solidFill>
                <a:latin typeface="Calibri"/>
              </a:rPr>
              <a:t>11 / 12</a:t>
            </a:r>
          </a:p>
        </p:txBody>
      </p:sp>
      <p:sp>
        <p:nvSpPr>
          <p:cNvPr id="6" name="Oval 5"/>
          <p:cNvSpPr/>
          <p:nvPr/>
        </p:nvSpPr>
        <p:spPr>
          <a:xfrm>
            <a:off x="548640" y="1737360"/>
            <a:ext cx="502920" cy="502920"/>
          </a:xfrm>
          <a:prstGeom prst="ellipse">
            <a:avLst/>
          </a:prstGeom>
          <a:solidFill>
            <a:srgbClr val="D9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737360"/>
            <a:ext cx="502920" cy="502920"/>
          </a:xfrm>
          <a:prstGeom prst="rect">
            <a:avLst/>
          </a:prstGeom>
          <a:noFill/>
        </p:spPr>
        <p:txBody>
          <a:bodyPr wrap="square" anchor="ctr" lIns="0" rIns="0" tIns="0" bIns="0">
            <a:spAutoFit/>
          </a:bodyPr>
          <a:lstStyle/>
          <a:p>
            <a:pPr algn="ctr">
              <a:spcAft>
                <a:spcPts val="0"/>
              </a:spcAft>
            </a:pPr>
            <a:r>
              <a:rPr sz="1800" b="1" i="0">
                <a:solidFill>
                  <a:srgbClr val="FFFFFF"/>
                </a:solidFill>
                <a:latin typeface="Calibri"/>
              </a:rPr>
              <a:t>?</a:t>
            </a:r>
          </a:p>
        </p:txBody>
      </p:sp>
      <p:sp>
        <p:nvSpPr>
          <p:cNvPr id="8" name="TextBox 7"/>
          <p:cNvSpPr txBox="1"/>
          <p:nvPr/>
        </p:nvSpPr>
        <p:spPr>
          <a:xfrm>
            <a:off x="1280160" y="1691639"/>
            <a:ext cx="2194560" cy="594360"/>
          </a:xfrm>
          <a:prstGeom prst="rect">
            <a:avLst/>
          </a:prstGeom>
          <a:noFill/>
        </p:spPr>
        <p:txBody>
          <a:bodyPr wrap="square" anchor="ctr" lIns="0" rIns="0" tIns="0" bIns="0">
            <a:spAutoFit/>
          </a:bodyPr>
          <a:lstStyle/>
          <a:p>
            <a:pPr algn="l">
              <a:spcAft>
                <a:spcPts val="0"/>
              </a:spcAft>
            </a:pPr>
            <a:r>
              <a:rPr sz="1600" b="1" i="0">
                <a:solidFill>
                  <a:srgbClr val="1B2633"/>
                </a:solidFill>
                <a:latin typeface="Calibri"/>
              </a:rPr>
              <a:t>Analog In</a:t>
            </a:r>
          </a:p>
        </p:txBody>
      </p:sp>
      <p:sp>
        <p:nvSpPr>
          <p:cNvPr id="9" name="TextBox 8"/>
          <p:cNvSpPr txBox="1"/>
          <p:nvPr/>
        </p:nvSpPr>
        <p:spPr>
          <a:xfrm>
            <a:off x="3474720" y="1691639"/>
            <a:ext cx="8138160" cy="594360"/>
          </a:xfrm>
          <a:prstGeom prst="rect">
            <a:avLst/>
          </a:prstGeom>
          <a:noFill/>
        </p:spPr>
        <p:txBody>
          <a:bodyPr wrap="square" anchor="ctr" lIns="0" rIns="0" tIns="0" bIns="0">
            <a:spAutoFit/>
          </a:bodyPr>
          <a:lstStyle/>
          <a:p>
            <a:pPr algn="l">
              <a:spcAft>
                <a:spcPts val="0"/>
              </a:spcAft>
            </a:pPr>
            <a:r>
              <a:rPr sz="1500" b="0" i="0">
                <a:solidFill>
                  <a:srgbClr val="2E3D4F"/>
                </a:solidFill>
                <a:latin typeface="Calibri"/>
              </a:rPr>
              <a:t>Input impedance, AC/DC coupling, sample rate and anti-aliasing; behaviour on overload above ±2 V</a:t>
            </a:r>
          </a:p>
        </p:txBody>
      </p:sp>
      <p:sp>
        <p:nvSpPr>
          <p:cNvPr id="10" name="Oval 9"/>
          <p:cNvSpPr/>
          <p:nvPr/>
        </p:nvSpPr>
        <p:spPr>
          <a:xfrm>
            <a:off x="548640" y="2624328"/>
            <a:ext cx="502920" cy="502920"/>
          </a:xfrm>
          <a:prstGeom prst="ellipse">
            <a:avLst/>
          </a:prstGeom>
          <a:solidFill>
            <a:srgbClr val="D9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48640" y="2624328"/>
            <a:ext cx="502920" cy="502920"/>
          </a:xfrm>
          <a:prstGeom prst="rect">
            <a:avLst/>
          </a:prstGeom>
          <a:noFill/>
        </p:spPr>
        <p:txBody>
          <a:bodyPr wrap="square" anchor="ctr" lIns="0" rIns="0" tIns="0" bIns="0">
            <a:spAutoFit/>
          </a:bodyPr>
          <a:lstStyle/>
          <a:p>
            <a:pPr algn="ctr">
              <a:spcAft>
                <a:spcPts val="0"/>
              </a:spcAft>
            </a:pPr>
            <a:r>
              <a:rPr sz="1800" b="1" i="0">
                <a:solidFill>
                  <a:srgbClr val="FFFFFF"/>
                </a:solidFill>
                <a:latin typeface="Calibri"/>
              </a:rPr>
              <a:t>?</a:t>
            </a:r>
          </a:p>
        </p:txBody>
      </p:sp>
      <p:sp>
        <p:nvSpPr>
          <p:cNvPr id="12" name="TextBox 11"/>
          <p:cNvSpPr txBox="1"/>
          <p:nvPr/>
        </p:nvSpPr>
        <p:spPr>
          <a:xfrm>
            <a:off x="1280160" y="2578608"/>
            <a:ext cx="2194560" cy="594360"/>
          </a:xfrm>
          <a:prstGeom prst="rect">
            <a:avLst/>
          </a:prstGeom>
          <a:noFill/>
        </p:spPr>
        <p:txBody>
          <a:bodyPr wrap="square" anchor="ctr" lIns="0" rIns="0" tIns="0" bIns="0">
            <a:spAutoFit/>
          </a:bodyPr>
          <a:lstStyle/>
          <a:p>
            <a:pPr algn="l">
              <a:spcAft>
                <a:spcPts val="0"/>
              </a:spcAft>
            </a:pPr>
            <a:r>
              <a:rPr sz="1600" b="1" i="0">
                <a:solidFill>
                  <a:srgbClr val="1B2633"/>
                </a:solidFill>
                <a:latin typeface="Calibri"/>
              </a:rPr>
              <a:t>FRF with random</a:t>
            </a:r>
          </a:p>
        </p:txBody>
      </p:sp>
      <p:sp>
        <p:nvSpPr>
          <p:cNvPr id="13" name="TextBox 12"/>
          <p:cNvSpPr txBox="1"/>
          <p:nvPr/>
        </p:nvSpPr>
        <p:spPr>
          <a:xfrm>
            <a:off x="3474720" y="2578608"/>
            <a:ext cx="8138160" cy="594360"/>
          </a:xfrm>
          <a:prstGeom prst="rect">
            <a:avLst/>
          </a:prstGeom>
          <a:noFill/>
        </p:spPr>
        <p:txBody>
          <a:bodyPr wrap="square" anchor="ctr" lIns="0" rIns="0" tIns="0" bIns="0">
            <a:spAutoFit/>
          </a:bodyPr>
          <a:lstStyle/>
          <a:p>
            <a:pPr algn="l">
              <a:spcAft>
                <a:spcPts val="0"/>
              </a:spcAft>
            </a:pPr>
            <a:r>
              <a:rPr sz="1500" b="0" i="0">
                <a:solidFill>
                  <a:srgbClr val="2E3D4F"/>
                </a:solidFill>
                <a:latin typeface="Calibri"/>
              </a:rPr>
              <a:t>Does the Q2 compute H1 FRFs with windowing and averaging for a continuous, non-periodic random reference?</a:t>
            </a:r>
          </a:p>
        </p:txBody>
      </p:sp>
      <p:sp>
        <p:nvSpPr>
          <p:cNvPr id="14" name="Oval 13"/>
          <p:cNvSpPr/>
          <p:nvPr/>
        </p:nvSpPr>
        <p:spPr>
          <a:xfrm>
            <a:off x="548640" y="3511296"/>
            <a:ext cx="502920" cy="502920"/>
          </a:xfrm>
          <a:prstGeom prst="ellipse">
            <a:avLst/>
          </a:prstGeom>
          <a:solidFill>
            <a:srgbClr val="D9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40" y="3511296"/>
            <a:ext cx="502920" cy="502920"/>
          </a:xfrm>
          <a:prstGeom prst="rect">
            <a:avLst/>
          </a:prstGeom>
          <a:noFill/>
        </p:spPr>
        <p:txBody>
          <a:bodyPr wrap="square" anchor="ctr" lIns="0" rIns="0" tIns="0" bIns="0">
            <a:spAutoFit/>
          </a:bodyPr>
          <a:lstStyle/>
          <a:p>
            <a:pPr algn="ctr">
              <a:spcAft>
                <a:spcPts val="0"/>
              </a:spcAft>
            </a:pPr>
            <a:r>
              <a:rPr sz="1800" b="1" i="0">
                <a:solidFill>
                  <a:srgbClr val="FFFFFF"/>
                </a:solidFill>
                <a:latin typeface="Calibri"/>
              </a:rPr>
              <a:t>?</a:t>
            </a:r>
          </a:p>
        </p:txBody>
      </p:sp>
      <p:sp>
        <p:nvSpPr>
          <p:cNvPr id="16" name="TextBox 15"/>
          <p:cNvSpPr txBox="1"/>
          <p:nvPr/>
        </p:nvSpPr>
        <p:spPr>
          <a:xfrm>
            <a:off x="1280160" y="3465576"/>
            <a:ext cx="2194560" cy="594360"/>
          </a:xfrm>
          <a:prstGeom prst="rect">
            <a:avLst/>
          </a:prstGeom>
          <a:noFill/>
        </p:spPr>
        <p:txBody>
          <a:bodyPr wrap="square" anchor="ctr" lIns="0" rIns="0" tIns="0" bIns="0">
            <a:spAutoFit/>
          </a:bodyPr>
          <a:lstStyle/>
          <a:p>
            <a:pPr algn="l">
              <a:spcAft>
                <a:spcPts val="0"/>
              </a:spcAft>
            </a:pPr>
            <a:r>
              <a:rPr sz="1600" b="1" i="0">
                <a:solidFill>
                  <a:srgbClr val="1B2633"/>
                </a:solidFill>
                <a:latin typeface="Calibri"/>
              </a:rPr>
              <a:t>Resolution</a:t>
            </a:r>
          </a:p>
        </p:txBody>
      </p:sp>
      <p:sp>
        <p:nvSpPr>
          <p:cNvPr id="17" name="TextBox 16"/>
          <p:cNvSpPr txBox="1"/>
          <p:nvPr/>
        </p:nvSpPr>
        <p:spPr>
          <a:xfrm>
            <a:off x="3474720" y="3465576"/>
            <a:ext cx="8138160" cy="594360"/>
          </a:xfrm>
          <a:prstGeom prst="rect">
            <a:avLst/>
          </a:prstGeom>
          <a:noFill/>
        </p:spPr>
        <p:txBody>
          <a:bodyPr wrap="square" anchor="ctr" lIns="0" rIns="0" tIns="0" bIns="0">
            <a:spAutoFit/>
          </a:bodyPr>
          <a:lstStyle/>
          <a:p>
            <a:pPr algn="l">
              <a:spcAft>
                <a:spcPts val="0"/>
              </a:spcAft>
            </a:pPr>
            <a:r>
              <a:rPr sz="1500" b="0" i="0">
                <a:solidFill>
                  <a:srgbClr val="2E3D4F"/>
                </a:solidFill>
                <a:latin typeface="Calibri"/>
              </a:rPr>
              <a:t>Displacement noise floor and dynamic range per beam from 10 Hz to 7 kHz; number of beams and spot size</a:t>
            </a:r>
          </a:p>
        </p:txBody>
      </p:sp>
      <p:sp>
        <p:nvSpPr>
          <p:cNvPr id="18" name="Oval 17"/>
          <p:cNvSpPr/>
          <p:nvPr/>
        </p:nvSpPr>
        <p:spPr>
          <a:xfrm>
            <a:off x="548640" y="4398264"/>
            <a:ext cx="502920" cy="502920"/>
          </a:xfrm>
          <a:prstGeom prst="ellipse">
            <a:avLst/>
          </a:prstGeom>
          <a:solidFill>
            <a:srgbClr val="D9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48640" y="4398264"/>
            <a:ext cx="502920" cy="502920"/>
          </a:xfrm>
          <a:prstGeom prst="rect">
            <a:avLst/>
          </a:prstGeom>
          <a:noFill/>
        </p:spPr>
        <p:txBody>
          <a:bodyPr wrap="square" anchor="ctr" lIns="0" rIns="0" tIns="0" bIns="0">
            <a:spAutoFit/>
          </a:bodyPr>
          <a:lstStyle/>
          <a:p>
            <a:pPr algn="ctr">
              <a:spcAft>
                <a:spcPts val="0"/>
              </a:spcAft>
            </a:pPr>
            <a:r>
              <a:rPr sz="1800" b="1" i="0">
                <a:solidFill>
                  <a:srgbClr val="FFFFFF"/>
                </a:solidFill>
                <a:latin typeface="Calibri"/>
              </a:rPr>
              <a:t>?</a:t>
            </a:r>
          </a:p>
        </p:txBody>
      </p:sp>
      <p:sp>
        <p:nvSpPr>
          <p:cNvPr id="20" name="TextBox 19"/>
          <p:cNvSpPr txBox="1"/>
          <p:nvPr/>
        </p:nvSpPr>
        <p:spPr>
          <a:xfrm>
            <a:off x="1280160" y="4352544"/>
            <a:ext cx="2194560" cy="594360"/>
          </a:xfrm>
          <a:prstGeom prst="rect">
            <a:avLst/>
          </a:prstGeom>
          <a:noFill/>
        </p:spPr>
        <p:txBody>
          <a:bodyPr wrap="square" anchor="ctr" lIns="0" rIns="0" tIns="0" bIns="0">
            <a:spAutoFit/>
          </a:bodyPr>
          <a:lstStyle/>
          <a:p>
            <a:pPr algn="l">
              <a:spcAft>
                <a:spcPts val="0"/>
              </a:spcAft>
            </a:pPr>
            <a:r>
              <a:rPr sz="1600" b="1" i="0">
                <a:solidFill>
                  <a:srgbClr val="1B2633"/>
                </a:solidFill>
                <a:latin typeface="Calibri"/>
              </a:rPr>
              <a:t>Sync</a:t>
            </a:r>
          </a:p>
        </p:txBody>
      </p:sp>
      <p:sp>
        <p:nvSpPr>
          <p:cNvPr id="21" name="TextBox 20"/>
          <p:cNvSpPr txBox="1"/>
          <p:nvPr/>
        </p:nvSpPr>
        <p:spPr>
          <a:xfrm>
            <a:off x="3474720" y="4352544"/>
            <a:ext cx="8138160" cy="594360"/>
          </a:xfrm>
          <a:prstGeom prst="rect">
            <a:avLst/>
          </a:prstGeom>
          <a:noFill/>
        </p:spPr>
        <p:txBody>
          <a:bodyPr wrap="square" anchor="ctr" lIns="0" rIns="0" tIns="0" bIns="0">
            <a:spAutoFit/>
          </a:bodyPr>
          <a:lstStyle/>
          <a:p>
            <a:pPr algn="l">
              <a:spcAft>
                <a:spcPts val="0"/>
              </a:spcAft>
            </a:pPr>
            <a:r>
              <a:rPr sz="1500" b="0" i="0">
                <a:solidFill>
                  <a:srgbClr val="2E3D4F"/>
                </a:solidFill>
                <a:latin typeface="Calibri"/>
              </a:rPr>
              <a:t>Trigger input/output or external clock, to align Q2 records with vcactl runs</a:t>
            </a:r>
          </a:p>
        </p:txBody>
      </p:sp>
      <p:sp>
        <p:nvSpPr>
          <p:cNvPr id="22" name="Oval 21"/>
          <p:cNvSpPr/>
          <p:nvPr/>
        </p:nvSpPr>
        <p:spPr>
          <a:xfrm>
            <a:off x="548640" y="5285231"/>
            <a:ext cx="502920" cy="502920"/>
          </a:xfrm>
          <a:prstGeom prst="ellipse">
            <a:avLst/>
          </a:prstGeom>
          <a:solidFill>
            <a:srgbClr val="D9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8640" y="5285231"/>
            <a:ext cx="502920" cy="502920"/>
          </a:xfrm>
          <a:prstGeom prst="rect">
            <a:avLst/>
          </a:prstGeom>
          <a:noFill/>
        </p:spPr>
        <p:txBody>
          <a:bodyPr wrap="square" anchor="ctr" lIns="0" rIns="0" tIns="0" bIns="0">
            <a:spAutoFit/>
          </a:bodyPr>
          <a:lstStyle/>
          <a:p>
            <a:pPr algn="ctr">
              <a:spcAft>
                <a:spcPts val="0"/>
              </a:spcAft>
            </a:pPr>
            <a:r>
              <a:rPr sz="1800" b="1" i="0">
                <a:solidFill>
                  <a:srgbClr val="FFFFFF"/>
                </a:solidFill>
                <a:latin typeface="Calibri"/>
              </a:rPr>
              <a:t>?</a:t>
            </a:r>
          </a:p>
        </p:txBody>
      </p:sp>
      <p:sp>
        <p:nvSpPr>
          <p:cNvPr id="24" name="TextBox 23"/>
          <p:cNvSpPr txBox="1"/>
          <p:nvPr/>
        </p:nvSpPr>
        <p:spPr>
          <a:xfrm>
            <a:off x="1280160" y="5239512"/>
            <a:ext cx="2194560" cy="594360"/>
          </a:xfrm>
          <a:prstGeom prst="rect">
            <a:avLst/>
          </a:prstGeom>
          <a:noFill/>
        </p:spPr>
        <p:txBody>
          <a:bodyPr wrap="square" anchor="ctr" lIns="0" rIns="0" tIns="0" bIns="0">
            <a:spAutoFit/>
          </a:bodyPr>
          <a:lstStyle/>
          <a:p>
            <a:pPr algn="l">
              <a:spcAft>
                <a:spcPts val="0"/>
              </a:spcAft>
            </a:pPr>
            <a:r>
              <a:rPr sz="1600" b="1" i="0">
                <a:solidFill>
                  <a:srgbClr val="1B2633"/>
                </a:solidFill>
                <a:latin typeface="Calibri"/>
              </a:rPr>
              <a:t>Mounting</a:t>
            </a:r>
          </a:p>
        </p:txBody>
      </p:sp>
      <p:sp>
        <p:nvSpPr>
          <p:cNvPr id="25" name="TextBox 24"/>
          <p:cNvSpPr txBox="1"/>
          <p:nvPr/>
        </p:nvSpPr>
        <p:spPr>
          <a:xfrm>
            <a:off x="3474720" y="5239512"/>
            <a:ext cx="8138160" cy="594360"/>
          </a:xfrm>
          <a:prstGeom prst="rect">
            <a:avLst/>
          </a:prstGeom>
          <a:noFill/>
        </p:spPr>
        <p:txBody>
          <a:bodyPr wrap="square" anchor="ctr" lIns="0" rIns="0" tIns="0" bIns="0">
            <a:spAutoFit/>
          </a:bodyPr>
          <a:lstStyle/>
          <a:p>
            <a:pPr algn="l">
              <a:spcAft>
                <a:spcPts val="0"/>
              </a:spcAft>
            </a:pPr>
            <a:r>
              <a:rPr sz="1500" b="0" i="0">
                <a:solidFill>
                  <a:srgbClr val="2E3D4F"/>
                </a:solidFill>
                <a:latin typeface="Calibri"/>
              </a:rPr>
              <a:t>Working distance and field of view for our shaker tables; stand recommendations; laser class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633"/>
        </a:solidFill>
        <a:effectLst/>
      </p:bgPr>
    </p:bg>
    <p:spTree>
      <p:nvGrpSpPr>
        <p:cNvPr id="1" name=""/>
        <p:cNvGrpSpPr/>
        <p:nvPr/>
      </p:nvGrpSpPr>
      <p:grpSpPr/>
      <p:sp>
        <p:nvSpPr>
          <p:cNvPr id="2" name="TextBox 1"/>
          <p:cNvSpPr txBox="1"/>
          <p:nvPr/>
        </p:nvSpPr>
        <p:spPr>
          <a:xfrm>
            <a:off x="731520" y="548640"/>
            <a:ext cx="10698480" cy="822960"/>
          </a:xfrm>
          <a:prstGeom prst="rect">
            <a:avLst/>
          </a:prstGeom>
          <a:noFill/>
        </p:spPr>
        <p:txBody>
          <a:bodyPr wrap="square" anchor="t" lIns="0" rIns="0" tIns="0" bIns="0">
            <a:spAutoFit/>
          </a:bodyPr>
          <a:lstStyle/>
          <a:p>
            <a:pPr algn="l">
              <a:spcAft>
                <a:spcPts val="0"/>
              </a:spcAft>
            </a:pPr>
            <a:r>
              <a:rPr sz="3600" b="1" i="0">
                <a:solidFill>
                  <a:srgbClr val="FFFFFF"/>
                </a:solidFill>
                <a:latin typeface="Cambria"/>
              </a:rPr>
              <a:t>Next steps</a:t>
            </a:r>
          </a:p>
        </p:txBody>
      </p:sp>
      <p:sp>
        <p:nvSpPr>
          <p:cNvPr id="3" name="Oval 2"/>
          <p:cNvSpPr/>
          <p:nvPr/>
        </p:nvSpPr>
        <p:spPr>
          <a:xfrm>
            <a:off x="731520" y="1645920"/>
            <a:ext cx="548640" cy="548640"/>
          </a:xfrm>
          <a:prstGeom prst="ellipse">
            <a:avLst/>
          </a:prstGeom>
          <a:solidFill>
            <a:srgbClr val="0F76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645920"/>
            <a:ext cx="548640" cy="548640"/>
          </a:xfrm>
          <a:prstGeom prst="rect">
            <a:avLst/>
          </a:prstGeom>
          <a:noFill/>
        </p:spPr>
        <p:txBody>
          <a:bodyPr wrap="square" anchor="ctr" lIns="0" rIns="0" tIns="0" bIns="0">
            <a:spAutoFit/>
          </a:bodyPr>
          <a:lstStyle/>
          <a:p>
            <a:pPr algn="ctr">
              <a:spcAft>
                <a:spcPts val="0"/>
              </a:spcAft>
            </a:pPr>
            <a:r>
              <a:rPr sz="1800" b="1" i="0">
                <a:solidFill>
                  <a:srgbClr val="FFFFFF"/>
                </a:solidFill>
                <a:latin typeface="Calibri"/>
              </a:rPr>
              <a:t>1</a:t>
            </a:r>
          </a:p>
        </p:txBody>
      </p:sp>
      <p:sp>
        <p:nvSpPr>
          <p:cNvPr id="5" name="TextBox 4"/>
          <p:cNvSpPr txBox="1"/>
          <p:nvPr/>
        </p:nvSpPr>
        <p:spPr>
          <a:xfrm>
            <a:off x="1554480" y="1600200"/>
            <a:ext cx="9875520" cy="640080"/>
          </a:xfrm>
          <a:prstGeom prst="rect">
            <a:avLst/>
          </a:prstGeom>
          <a:noFill/>
        </p:spPr>
        <p:txBody>
          <a:bodyPr wrap="square" anchor="ctr" lIns="0" rIns="0" tIns="0" bIns="0">
            <a:spAutoFit/>
          </a:bodyPr>
          <a:lstStyle/>
          <a:p>
            <a:pPr algn="l">
              <a:spcAft>
                <a:spcPts val="0"/>
              </a:spcAft>
            </a:pPr>
            <a:r>
              <a:rPr sz="1700" b="0" i="0">
                <a:solidFill>
                  <a:srgbClr val="FFFFFF"/>
                </a:solidFill>
                <a:latin typeface="Calibri"/>
              </a:rPr>
              <a:t>Send the questions on slide 11 to Ommatidia</a:t>
            </a:r>
          </a:p>
        </p:txBody>
      </p:sp>
      <p:sp>
        <p:nvSpPr>
          <p:cNvPr id="6" name="Oval 5"/>
          <p:cNvSpPr/>
          <p:nvPr/>
        </p:nvSpPr>
        <p:spPr>
          <a:xfrm>
            <a:off x="731520" y="2514600"/>
            <a:ext cx="548640" cy="548640"/>
          </a:xfrm>
          <a:prstGeom prst="ellipse">
            <a:avLst/>
          </a:prstGeom>
          <a:solidFill>
            <a:srgbClr val="0F76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2514600"/>
            <a:ext cx="548640" cy="548640"/>
          </a:xfrm>
          <a:prstGeom prst="rect">
            <a:avLst/>
          </a:prstGeom>
          <a:noFill/>
        </p:spPr>
        <p:txBody>
          <a:bodyPr wrap="square" anchor="ctr" lIns="0" rIns="0" tIns="0" bIns="0">
            <a:spAutoFit/>
          </a:bodyPr>
          <a:lstStyle/>
          <a:p>
            <a:pPr algn="ctr">
              <a:spcAft>
                <a:spcPts val="0"/>
              </a:spcAft>
            </a:pPr>
            <a:r>
              <a:rPr sz="1800" b="1" i="0">
                <a:solidFill>
                  <a:srgbClr val="FFFFFF"/>
                </a:solidFill>
                <a:latin typeface="Calibri"/>
              </a:rPr>
              <a:t>2</a:t>
            </a:r>
          </a:p>
        </p:txBody>
      </p:sp>
      <p:sp>
        <p:nvSpPr>
          <p:cNvPr id="8" name="TextBox 7"/>
          <p:cNvSpPr txBox="1"/>
          <p:nvPr/>
        </p:nvSpPr>
        <p:spPr>
          <a:xfrm>
            <a:off x="1554480" y="2468880"/>
            <a:ext cx="9875520" cy="640080"/>
          </a:xfrm>
          <a:prstGeom prst="rect">
            <a:avLst/>
          </a:prstGeom>
          <a:noFill/>
        </p:spPr>
        <p:txBody>
          <a:bodyPr wrap="square" anchor="ctr" lIns="0" rIns="0" tIns="0" bIns="0">
            <a:spAutoFit/>
          </a:bodyPr>
          <a:lstStyle/>
          <a:p>
            <a:pPr algn="l">
              <a:spcAft>
                <a:spcPts val="0"/>
              </a:spcAft>
            </a:pPr>
            <a:r>
              <a:rPr sz="1700" b="0" i="0">
                <a:solidFill>
                  <a:srgbClr val="FFFFFF"/>
                </a:solidFill>
                <a:latin typeface="Calibri"/>
              </a:rPr>
              <a:t>Choose the shaker from the specimen mass and frequency range (default TV 51110)</a:t>
            </a:r>
          </a:p>
        </p:txBody>
      </p:sp>
      <p:sp>
        <p:nvSpPr>
          <p:cNvPr id="9" name="Oval 8"/>
          <p:cNvSpPr/>
          <p:nvPr/>
        </p:nvSpPr>
        <p:spPr>
          <a:xfrm>
            <a:off x="731520" y="3383280"/>
            <a:ext cx="548640" cy="548640"/>
          </a:xfrm>
          <a:prstGeom prst="ellipse">
            <a:avLst/>
          </a:prstGeom>
          <a:solidFill>
            <a:srgbClr val="0F76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3383280"/>
            <a:ext cx="548640" cy="548640"/>
          </a:xfrm>
          <a:prstGeom prst="rect">
            <a:avLst/>
          </a:prstGeom>
          <a:noFill/>
        </p:spPr>
        <p:txBody>
          <a:bodyPr wrap="square" anchor="ctr" lIns="0" rIns="0" tIns="0" bIns="0">
            <a:spAutoFit/>
          </a:bodyPr>
          <a:lstStyle/>
          <a:p>
            <a:pPr algn="ctr">
              <a:spcAft>
                <a:spcPts val="0"/>
              </a:spcAft>
            </a:pPr>
            <a:r>
              <a:rPr sz="1800" b="1" i="0">
                <a:solidFill>
                  <a:srgbClr val="FFFFFF"/>
                </a:solidFill>
                <a:latin typeface="Calibri"/>
              </a:rPr>
              <a:t>3</a:t>
            </a:r>
          </a:p>
        </p:txBody>
      </p:sp>
      <p:sp>
        <p:nvSpPr>
          <p:cNvPr id="11" name="TextBox 10"/>
          <p:cNvSpPr txBox="1"/>
          <p:nvPr/>
        </p:nvSpPr>
        <p:spPr>
          <a:xfrm>
            <a:off x="1554480" y="3337560"/>
            <a:ext cx="9875520" cy="640080"/>
          </a:xfrm>
          <a:prstGeom prst="rect">
            <a:avLst/>
          </a:prstGeom>
          <a:noFill/>
        </p:spPr>
        <p:txBody>
          <a:bodyPr wrap="square" anchor="ctr" lIns="0" rIns="0" tIns="0" bIns="0">
            <a:spAutoFit/>
          </a:bodyPr>
          <a:lstStyle/>
          <a:p>
            <a:pPr algn="l">
              <a:spcAft>
                <a:spcPts val="0"/>
              </a:spcAft>
            </a:pPr>
            <a:r>
              <a:rPr sz="1700" b="0" i="0">
                <a:solidFill>
                  <a:srgbClr val="FFFFFF"/>
                </a:solidFill>
                <a:latin typeface="Calibri"/>
              </a:rPr>
              <a:t>Pick the sharing circuit for the DAQ in use and check the ±2 V budget for the test level</a:t>
            </a:r>
          </a:p>
        </p:txBody>
      </p:sp>
      <p:sp>
        <p:nvSpPr>
          <p:cNvPr id="12" name="Oval 11"/>
          <p:cNvSpPr/>
          <p:nvPr/>
        </p:nvSpPr>
        <p:spPr>
          <a:xfrm>
            <a:off x="731520" y="4251959"/>
            <a:ext cx="548640" cy="548640"/>
          </a:xfrm>
          <a:prstGeom prst="ellipse">
            <a:avLst/>
          </a:prstGeom>
          <a:solidFill>
            <a:srgbClr val="0F76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31520" y="4251959"/>
            <a:ext cx="548640" cy="548640"/>
          </a:xfrm>
          <a:prstGeom prst="rect">
            <a:avLst/>
          </a:prstGeom>
          <a:noFill/>
        </p:spPr>
        <p:txBody>
          <a:bodyPr wrap="square" anchor="ctr" lIns="0" rIns="0" tIns="0" bIns="0">
            <a:spAutoFit/>
          </a:bodyPr>
          <a:lstStyle/>
          <a:p>
            <a:pPr algn="ctr">
              <a:spcAft>
                <a:spcPts val="0"/>
              </a:spcAft>
            </a:pPr>
            <a:r>
              <a:rPr sz="1800" b="1" i="0">
                <a:solidFill>
                  <a:srgbClr val="FFFFFF"/>
                </a:solidFill>
                <a:latin typeface="Calibri"/>
              </a:rPr>
              <a:t>4</a:t>
            </a:r>
          </a:p>
        </p:txBody>
      </p:sp>
      <p:sp>
        <p:nvSpPr>
          <p:cNvPr id="14" name="TextBox 13"/>
          <p:cNvSpPr txBox="1"/>
          <p:nvPr/>
        </p:nvSpPr>
        <p:spPr>
          <a:xfrm>
            <a:off x="1554480" y="4206240"/>
            <a:ext cx="9875520" cy="640080"/>
          </a:xfrm>
          <a:prstGeom prst="rect">
            <a:avLst/>
          </a:prstGeom>
          <a:noFill/>
        </p:spPr>
        <p:txBody>
          <a:bodyPr wrap="square" anchor="ctr" lIns="0" rIns="0" tIns="0" bIns="0">
            <a:spAutoFit/>
          </a:bodyPr>
          <a:lstStyle/>
          <a:p>
            <a:pPr algn="l">
              <a:spcAft>
                <a:spcPts val="0"/>
              </a:spcAft>
            </a:pPr>
            <a:r>
              <a:rPr sz="1700" b="0" i="0">
                <a:solidFill>
                  <a:srgbClr val="FFFFFF"/>
                </a:solidFill>
                <a:latin typeface="Calibri"/>
              </a:rPr>
              <a:t>Dry run: vcactl pretest with the Q2 connected; compare the noise floor with and without the tee (ground loops)</a:t>
            </a:r>
          </a:p>
        </p:txBody>
      </p:sp>
      <p:sp>
        <p:nvSpPr>
          <p:cNvPr id="15" name="Oval 14"/>
          <p:cNvSpPr/>
          <p:nvPr/>
        </p:nvSpPr>
        <p:spPr>
          <a:xfrm>
            <a:off x="731520" y="5120640"/>
            <a:ext cx="548640" cy="548640"/>
          </a:xfrm>
          <a:prstGeom prst="ellipse">
            <a:avLst/>
          </a:prstGeom>
          <a:solidFill>
            <a:srgbClr val="0F76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5120640"/>
            <a:ext cx="548640" cy="548640"/>
          </a:xfrm>
          <a:prstGeom prst="rect">
            <a:avLst/>
          </a:prstGeom>
          <a:noFill/>
        </p:spPr>
        <p:txBody>
          <a:bodyPr wrap="square" anchor="ctr" lIns="0" rIns="0" tIns="0" bIns="0">
            <a:spAutoFit/>
          </a:bodyPr>
          <a:lstStyle/>
          <a:p>
            <a:pPr algn="ctr">
              <a:spcAft>
                <a:spcPts val="0"/>
              </a:spcAft>
            </a:pPr>
            <a:r>
              <a:rPr sz="1800" b="1" i="0">
                <a:solidFill>
                  <a:srgbClr val="FFFFFF"/>
                </a:solidFill>
                <a:latin typeface="Calibri"/>
              </a:rPr>
              <a:t>5</a:t>
            </a:r>
          </a:p>
        </p:txBody>
      </p:sp>
      <p:sp>
        <p:nvSpPr>
          <p:cNvPr id="17" name="TextBox 16"/>
          <p:cNvSpPr txBox="1"/>
          <p:nvPr/>
        </p:nvSpPr>
        <p:spPr>
          <a:xfrm>
            <a:off x="1554480" y="5074920"/>
            <a:ext cx="9875520" cy="640080"/>
          </a:xfrm>
          <a:prstGeom prst="rect">
            <a:avLst/>
          </a:prstGeom>
          <a:noFill/>
        </p:spPr>
        <p:txBody>
          <a:bodyPr wrap="square" anchor="ctr" lIns="0" rIns="0" tIns="0" bIns="0">
            <a:spAutoFit/>
          </a:bodyPr>
          <a:lstStyle/>
          <a:p>
            <a:pPr algn="l">
              <a:spcAft>
                <a:spcPts val="0"/>
              </a:spcAft>
            </a:pPr>
            <a:r>
              <a:rPr sz="1700" b="0" i="0">
                <a:solidFill>
                  <a:srgbClr val="FFFFFF"/>
                </a:solidFill>
                <a:latin typeface="Calibri"/>
              </a:rPr>
              <a:t>First test at --level -12 with a Q2 beam on the fixture; compare it with the integrated accelerometer signal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